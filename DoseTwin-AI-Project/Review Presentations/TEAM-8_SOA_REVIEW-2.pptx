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2" r:id="rId3"/>
    <p:sldId id="707" r:id="rId4"/>
    <p:sldId id="257" r:id="rId5"/>
    <p:sldId id="903" r:id="rId6"/>
    <p:sldId id="909" r:id="rId7"/>
    <p:sldId id="910" r:id="rId8"/>
    <p:sldId id="911" r:id="rId9"/>
    <p:sldId id="258" r:id="rId10"/>
    <p:sldId id="908" r:id="rId11"/>
    <p:sldId id="904" r:id="rId12"/>
    <p:sldId id="905" r:id="rId13"/>
    <p:sldId id="259" r:id="rId14"/>
    <p:sldId id="906" r:id="rId15"/>
    <p:sldId id="260" r:id="rId16"/>
    <p:sldId id="9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F18F-61AE-4607-49E6-58470144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D3E1A-432C-D6AA-83FD-C3BB58972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7FC3E-B5D1-71AF-6F0A-6C383BF1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8409C-9F03-FB14-991A-F9AAF1949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209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EB39-B87F-F2B4-AEC2-2E94F549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FD1E4-C9DD-6DF7-42B1-7F597B9A9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A2AFE-92CB-D219-1E28-71936BCF2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9CC3-0F7C-4804-AE29-CA8F35FB0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078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4AE2-3321-425F-AEBF-BA55017BEAAF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A2DC-FA7A-4049-8559-DAEFA0F9134D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95C2-6C7D-4544-B3C5-DC0920DADB46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EDBA2-04BF-434F-BBE8-224A7A8E3D5F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E073-134D-4E8D-AE2B-CF7BBE6EBF62}" type="datetime3">
              <a:rPr lang="en-US" smtClean="0"/>
              <a:t>27 August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1E4F-5CE6-4BAA-A58A-B401A72066D0}" type="datetime3">
              <a:rPr lang="en-US" smtClean="0"/>
              <a:t>27 August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5383-C4B5-46B1-9DA8-005CCE5ABF80}" type="datetime3">
              <a:rPr lang="en-US" smtClean="0"/>
              <a:t>27 August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F3F0-AE40-4269-8D4F-01CC3386237A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93059-9A80-4351-A9F9-D3CFEC3D4190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594B-BCE5-4EEC-97A6-1A30791DA17B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5030-591B-4511-BECB-F8DF036CAA9F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78DB-825A-4EA3-B188-A704F3692C99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9D18-C792-474A-B6F4-3177025BFFE0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451B6-86EE-469D-B722-295ECDFFE801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36CE-A75E-4DA0-9E53-2FEBAC06D23A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310F-1027-4AE7-A75C-41F0F9FCC1DD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DCA1-AA6B-44FA-B045-C61ED77F86FF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0B51-D227-4412-8F1A-82530FADDC4B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F9A5-38F4-463C-AD32-D66FACBF22BA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8CFA-9E3F-4EC8-BC99-9E15266431E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2140-64E3-4ED1-8EB2-E0D5A16EFA70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C6C4-8E12-4405-B60A-EC687C5FC919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C995-9F28-4457-AF53-28AEEA69B19F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AAF4F-4ADC-4A20-A721-D3BF9700C30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27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20785"/>
              </p:ext>
            </p:extLst>
          </p:nvPr>
        </p:nvGraphicFramePr>
        <p:xfrm>
          <a:off x="8193271" y="4898509"/>
          <a:ext cx="370205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 Ruthvik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2420030546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S.Akshay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2420030579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P.Nitish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2420030642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F488-101B-49B7-BB64-5E3E5678EA65}" type="datetime3">
              <a:rPr lang="en-US" b="1" smtClean="0"/>
              <a:t>27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15636" y="865872"/>
            <a:ext cx="10330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DOSETWIN AI: A DIGITAL TWIN FRAMEWORK FOR PERSONALIZED DRUG RESPONSE SIMULATION AND MEDICATION CONFLICT PREVENTION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5FBF3-0815-4ACF-B8FA-9D212187C67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26D60C-0C01-9639-86A0-A2F2698E9349}"/>
              </a:ext>
            </a:extLst>
          </p:cNvPr>
          <p:cNvSpPr txBox="1"/>
          <p:nvPr/>
        </p:nvSpPr>
        <p:spPr>
          <a:xfrm>
            <a:off x="850392" y="1591056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Personalized drug response</a:t>
            </a:r>
            <a:r>
              <a:rPr lang="en-IN" dirty="0"/>
              <a:t> varies from patient to patient due to differences in </a:t>
            </a:r>
            <a:r>
              <a:rPr lang="en-IN" b="1" dirty="0"/>
              <a:t>health conditions, physiological observations, and medication combinations</a:t>
            </a:r>
            <a:r>
              <a:rPr lang="en-IN" dirty="0"/>
              <a:t>. </a:t>
            </a:r>
            <a:r>
              <a:rPr lang="en-IN" b="1" dirty="0"/>
              <a:t>Drug–drug interactions (DDIs)</a:t>
            </a:r>
            <a:r>
              <a:rPr lang="en-IN" dirty="0"/>
              <a:t> may lead to adverse effects, while patient information, medication data, interaction analysis, and drug-response prediction are often handled as </a:t>
            </a:r>
            <a:r>
              <a:rPr lang="en-IN" b="1" dirty="0"/>
              <a:t>separate components</a:t>
            </a:r>
            <a:r>
              <a:rPr lang="en-IN" dirty="0"/>
              <a:t>.</a:t>
            </a:r>
          </a:p>
          <a:p>
            <a:r>
              <a:rPr lang="en-IN" dirty="0"/>
              <a:t>Existing research has explored </a:t>
            </a:r>
            <a:r>
              <a:rPr lang="en-IN" b="1" dirty="0"/>
              <a:t>Digital Twins, AI/ML-based drug-response prediction, Drug–Drug Interaction detection, Knowledge Graphs, and healthcare interoperability</a:t>
            </a:r>
            <a:r>
              <a:rPr lang="en-IN" dirty="0"/>
              <a:t>, but these capabilities are largely </a:t>
            </a:r>
            <a:r>
              <a:rPr lang="en-IN" b="1" dirty="0"/>
              <a:t>fragmented</a:t>
            </a:r>
            <a:r>
              <a:rPr lang="en-IN" dirty="0"/>
              <a:t>.</a:t>
            </a:r>
          </a:p>
          <a:p>
            <a:r>
              <a:rPr lang="en-IN" dirty="0"/>
              <a:t>Therefore, there is a need for an </a:t>
            </a:r>
            <a:r>
              <a:rPr lang="en-IN" b="1" dirty="0"/>
              <a:t>integrated Service-Oriented Architecture (SOA) framework</a:t>
            </a:r>
            <a:r>
              <a:rPr lang="en-IN" dirty="0"/>
              <a:t> that can represent a patient as a </a:t>
            </a:r>
            <a:r>
              <a:rPr lang="en-IN" b="1" dirty="0"/>
              <a:t>Digital Twin</a:t>
            </a:r>
            <a:r>
              <a:rPr lang="en-IN" dirty="0"/>
              <a:t>,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medication interactions</a:t>
            </a:r>
            <a:r>
              <a:rPr lang="en-IN" dirty="0"/>
              <a:t>, simulate </a:t>
            </a:r>
            <a:r>
              <a:rPr lang="en-IN" b="1" dirty="0"/>
              <a:t>drug response</a:t>
            </a:r>
            <a:r>
              <a:rPr lang="en-IN" dirty="0"/>
              <a:t>, and provide the results through an </a:t>
            </a:r>
            <a:r>
              <a:rPr lang="en-IN" b="1" dirty="0"/>
              <a:t>interoperable application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F740-D339-3558-B145-8E1E8691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C8F-9F67-4F05-A4FF-B20AEBCB954C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27B9-146B-6F98-29AE-C4FAF382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61D1-4D00-A0D7-2575-146A087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56164-9DBB-BEE2-9120-BE07B8CC6890}"/>
              </a:ext>
            </a:extLst>
          </p:cNvPr>
          <p:cNvSpPr txBox="1"/>
          <p:nvPr/>
        </p:nvSpPr>
        <p:spPr>
          <a:xfrm>
            <a:off x="787386" y="1227292"/>
            <a:ext cx="10433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patient-centric Digital Twin</a:t>
            </a:r>
            <a:r>
              <a:rPr lang="en-IN" dirty="0"/>
              <a:t> for representing patient health, medication, and clinical information.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personalized drug-response simulation</a:t>
            </a:r>
            <a:r>
              <a:rPr lang="en-IN" dirty="0"/>
              <a:t> using </a:t>
            </a:r>
            <a:r>
              <a:rPr lang="en-IN" b="1" dirty="0"/>
              <a:t>AI/ML techniques</a:t>
            </a:r>
            <a:r>
              <a:rPr lang="en-IN" dirty="0"/>
              <a:t> based on patient-specific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detect potential </a:t>
            </a:r>
            <a:r>
              <a:rPr lang="en-IN" b="1" dirty="0"/>
              <a:t>Drug–Drug Interactions (DDIs)</a:t>
            </a:r>
            <a:r>
              <a:rPr lang="en-IN" dirty="0"/>
              <a:t> using a </a:t>
            </a:r>
            <a:r>
              <a:rPr lang="en-IN" b="1" dirty="0"/>
              <a:t>Knowledge Graph-based approach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represent patient healthcare information using </a:t>
            </a:r>
            <a:r>
              <a:rPr lang="en-IN" b="1" dirty="0"/>
              <a:t>FHIR-based resources</a:t>
            </a:r>
            <a:r>
              <a:rPr lang="en-IN" dirty="0"/>
              <a:t> for improved </a:t>
            </a:r>
            <a:r>
              <a:rPr lang="en-IN" b="1" dirty="0"/>
              <a:t>interoperability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design an </a:t>
            </a:r>
            <a:r>
              <a:rPr lang="en-IN" b="1" dirty="0"/>
              <a:t>SOA-based architecture</a:t>
            </a:r>
            <a:r>
              <a:rPr lang="en-IN" dirty="0"/>
              <a:t> with modular services for patient, medication, interaction, FHIR, Knowledge Graph, and ML components.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an </a:t>
            </a:r>
            <a:r>
              <a:rPr lang="en-IN" b="1" dirty="0"/>
              <a:t>interactive web dashboard</a:t>
            </a:r>
            <a:r>
              <a:rPr lang="en-IN" dirty="0"/>
              <a:t> that integrates patient analysis, medication conflicts, simulated response, and risk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D77D-0BC9-1B0E-CD21-011A86EA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C3F4-E892-4B94-BBB7-5EF69E3A8556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3341-77F3-6822-6F5F-EF08A8CC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7EF2B-43BA-5434-320B-C20649F0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/>
        </p:nvGraphicFramePr>
        <p:xfrm>
          <a:off x="274646" y="689466"/>
          <a:ext cx="11642705" cy="50997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Authors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Title of the Paper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Methodology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Inferences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Limitation / Future Work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Vallée et al. [1]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Multi-scale Digital Twins for Personalized Medicine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Frontiers in Digital Health,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Multi-scale Digital Twin modelling• Clinical, molecular and biological data integration• AI/ML-based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Supports individualized health simulation.• Helps model personalized treatment strategies.• Can integrate multiple patient data 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Data integration remains challenging.• Requires stronger validation.• Privacy and ethical issues need attention.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Jarab et al. [2]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Digital Twins in Precision Pharmacotherapy: Emerging Applications, Challenges, and Future Directions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Frontiers in Digital Health,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Patient Digital Twins• Pharmacokinetic/pharmacodynamic modelling• Medication and clinical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Supports individualized drug therapy.• Can simulate treatment response.• Useful for precision dosing and polypharmacy.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Requires reliable patient data.• Clinical validation is still required.• Real-time integration remains difficult.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Mohan Babu &amp; Madhan [3]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Human Digital Twins in Personalized and Predictive Healthcare: A Comprehensive Review of Technologies, Applications, and Future Directions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Frontiers in Digital Health,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Human Digital Twin architecture• AI and computational modelling• Predictive healthcare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Supports personalized and predictive healthcare.• AI improves patient simulation.• Can support prediction of health and treatment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Data quality and privacy remain challenges.• Real-world clinical validation is limited.• Heterogeneous data integration needs further research.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27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8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5F2E-DF32-771E-B3EE-A4172005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9E623B-D750-F790-3A47-6D23EE7D884D}"/>
              </a:ext>
            </a:extLst>
          </p:cNvPr>
          <p:cNvGraphicFramePr>
            <a:graphicFrameLocks/>
          </p:cNvGraphicFramePr>
          <p:nvPr/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Authors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Title of the Paper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Methodology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Inferences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Limitation / Future Work</a:t>
                      </a:r>
                      <a:endParaRPr lang="en-IN" sz="14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Venkatapurapu et al. [4]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Digital Twins for Accelerating Drug Discovery and Development: Opportunities and Challenges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Drug Discovery Today,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Digital Twin modelling• Quantitative pharmacological modelling•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DTs can support drug development.• Combines modelling with healthcare data.• ML can assist treatment-response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Model reliability remains a concern.• Data integration is challenging.• Regulatory acceptance is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Tran &amp; Klau [5]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Drug Response Prediction: A Critical Systematic Review of Current Datasets and Methods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Pattern Recognition Letters,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Systematic review of drug-response datasets• ML prediction methods• Dataset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Drug-response prediction supports personalized medicine.• ML is widely used for response prediction.• Dataset quality strongly affects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Dataset inconsistency affects reliability.• Generalization remains difficult.• Better real-world datasets are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Duan et al. [6]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Multi-Modal Contrastive Learning Based on Molecular and Textual Data for Drug Response Prediction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Neural Networks, 2026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Molecular representation learning• Textual drug information• Multi-modal contrastive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Combining multiple data types improves drug representation.• Multi-modal AI can capture complementary information.• Supports personalized drug-response modelling.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Requires high-quality datasets.• Model complexity increases.• Real-patient validation is needed.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DB31D6-0AD9-3494-2747-EABB826F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27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C90959F-0F43-5D53-CF2A-565EBDB8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C9D8F3-85CC-90B4-F3DE-8092F0C9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25DA5-3611-9807-F573-4DA3DDF7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4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EDE3-8AA6-5271-A305-8101BC83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FA2563-3CD6-10E4-ABCC-11CCAAC836F0}"/>
              </a:ext>
            </a:extLst>
          </p:cNvPr>
          <p:cNvGraphicFramePr>
            <a:graphicFrameLocks/>
          </p:cNvGraphicFramePr>
          <p:nvPr/>
        </p:nvGraphicFramePr>
        <p:xfrm>
          <a:off x="274647" y="671425"/>
          <a:ext cx="11642705" cy="56360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6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Authors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 of the Paper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Inferences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Limitation / Future Work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Luo et al. [7]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Multi-relational Knowledge Graph for Drug-Drug Interaction Prediction via Dual Aggregation and Collaborative Optimization</a:t>
                      </a:r>
                      <a:r>
                        <a:rPr lang="en-IN" sz="1200"/>
                        <a:t>, </a:t>
                      </a:r>
                      <a:r>
                        <a:rPr lang="en-IN" sz="1200" i="1"/>
                        <a:t>Bioorganic Chemistry, 2026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Multi-relational Knowledge Graph• Graph representation learning• Drug–drug relationship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Knowledge Graphs represent complex drug relationships.• Graph learning can improve DDI prediction.• Multiple relationships provide richer interaction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Large graphs increase computational complexity.• Rare drugs may have limited information.• Clinical validation is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24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[Authors] [8]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Knowledge-Enhanced Graph Transformer with Contrastive Learning for Drug-Drug Interaction Prediction</a:t>
                      </a:r>
                      <a:r>
                        <a:rPr lang="en-IN" sz="1200"/>
                        <a:t>, </a:t>
                      </a:r>
                      <a:r>
                        <a:rPr lang="en-IN" sz="1200" i="1"/>
                        <a:t>Machine Learning with Applications, 2026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Knowledge Graph embeddings• Graph Transformer• Contrastive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Knowledge-enhanced graph models capture complex drug relationships.• Supports automated DDI prediction.• Can improve representation of drug interactions.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Requires substantial training data.• Generalization to new drugs is challenging.• Higher computational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4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[Authors] [9]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 Knowledge Graph-Driven Framework for Deploying AI-Powered Patient Digital Twins</a:t>
                      </a:r>
                      <a:r>
                        <a:rPr lang="en-IN" sz="1200"/>
                        <a:t>, </a:t>
                      </a:r>
                      <a:r>
                        <a:rPr lang="en-IN" sz="1200" i="1"/>
                        <a:t>Future Generation Computer Systems, 2026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Knowledge Graph-driven Digital Twin• Modular AI framework• FHIR-compliant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Connects Knowledge Graphs with patient Digital Twins.• FHIR APIs support healthcare interoperability.• Modular architecture supports AI integration.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Real-time clinical deployment requires validation.• Data integration remains complex.• Reliable clinical data streams are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31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Healthcare Digital Twin Review [10]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Healthcare Digital Twins: A Methodological Literature Review on Integrating IoT and AI for Personalized Medicine and Predictive Care</a:t>
                      </a:r>
                      <a:r>
                        <a:rPr lang="en-IN" sz="1200"/>
                        <a:t>, </a:t>
                      </a:r>
                      <a:r>
                        <a:rPr lang="en-IN" sz="1200" i="1"/>
                        <a:t>Telematics and Informatics Reports, 2026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Methodological literature review• Healthcare Digital Twin analysis• IoT + AI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AI and IoT enable personalized Digital Twins.• Supports predictive healthcare.• Data-driven DTs can improve individualized modelling.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Privacy and ethical concerns remain.• Security needs further attention.• Clinical implementation requires additional research.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34632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3DFFE9-6217-8D39-69B9-84EFC82C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27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8911AE-89F2-3981-C0F1-566CE6BD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735098-5A9A-129B-D7C8-24FA00DD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AE2F6-C47D-3687-CE4E-E5CAA6BF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903621" y="3112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55B0C-CBB3-D246-6164-0B73CB5A8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11881"/>
              </p:ext>
            </p:extLst>
          </p:nvPr>
        </p:nvGraphicFramePr>
        <p:xfrm>
          <a:off x="525539" y="957606"/>
          <a:ext cx="10852164" cy="5313866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Existing Research / Approach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Research Gap Identified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Our Proposed Solution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Digital Patient Twins for Personalized Healthcare</a:t>
                      </a:r>
                      <a:r>
                        <a:rPr lang="en-IN" sz="1600"/>
                        <a:t> – Existing research uses Digital Twins to represent patients using physiological, clinical, and health data for personalized healthcare.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Current Digital Twin research often focuses on modelling and simulation, but </a:t>
                      </a:r>
                      <a:r>
                        <a:rPr lang="en-IN" sz="1600" b="1"/>
                        <a:t>reliable patient-specific drug-response simulation and medication-conflict analysis are not fully integrated</a:t>
                      </a:r>
                      <a:r>
                        <a:rPr lang="en-IN" sz="1600"/>
                        <a:t> into one executable system.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DoseTwin AI Digital Twin</a:t>
                      </a:r>
                      <a:r>
                        <a:rPr lang="en-IN" sz="1600"/>
                        <a:t> – Creates a patient-specific virtual representation combining patient data, observations, medications, and conditions for personalized drug-response simulation.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AI/ML-Based Drug Response Prediction</a:t>
                      </a:r>
                      <a:r>
                        <a:rPr lang="en-IN" sz="1600"/>
                        <a:t> – ML and deep-learning approaches are used to predict drug response using patient, molecular, or pharmacological features.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Many approaches focus mainly on </a:t>
                      </a:r>
                      <a:r>
                        <a:rPr lang="en-IN" sz="1600" b="1"/>
                        <a:t>prediction models</a:t>
                      </a:r>
                      <a:r>
                        <a:rPr lang="en-IN" sz="1600"/>
                        <a:t>, without integrating the predicted response with patient medication history, drug interactions, and other clinical relationships.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AI Drug Response Engine</a:t>
                      </a:r>
                      <a:r>
                        <a:rPr lang="en-IN" sz="1600"/>
                        <a:t> – Uses an ML model to generate a </a:t>
                      </a:r>
                      <a:r>
                        <a:rPr lang="en-IN" sz="1600" b="1"/>
                        <a:t>simulated drug-response category and score</a:t>
                      </a:r>
                      <a:r>
                        <a:rPr lang="en-IN" sz="1600"/>
                        <a:t> using patient-specific features as part of the complete analysis workflow.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Drug–Drug Interaction &amp; Knowledge Graph Approaches</a:t>
                      </a:r>
                      <a:r>
                        <a:rPr lang="en-IN" sz="1600"/>
                        <a:t> – Existing DDI research uses rules, Knowledge Graphs, and graph-learning methods to identify relationships between drugs.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DDI analysis is often treated as a </a:t>
                      </a:r>
                      <a:r>
                        <a:rPr lang="en-IN" sz="1600" b="1"/>
                        <a:t>separate prediction task</a:t>
                      </a:r>
                      <a:r>
                        <a:rPr lang="en-IN" sz="1600"/>
                        <a:t> and is not connected with the patient's Digital Twin and simulated drug response in one workflow.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Interaction + Knowledge Graph Engine</a:t>
                      </a:r>
                      <a:r>
                        <a:rPr lang="en-IN" sz="1600" dirty="0"/>
                        <a:t> – Represents </a:t>
                      </a:r>
                      <a:r>
                        <a:rPr lang="en-IN" sz="1600" b="1" dirty="0"/>
                        <a:t>patient–drug–condition–observation relationships</a:t>
                      </a:r>
                      <a:r>
                        <a:rPr lang="en-IN" sz="1600" dirty="0"/>
                        <a:t> and detects medication conflicts within the patient-level Digital Twin workflow.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87076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47C12D-6482-0415-446D-5C68257E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E293-8B38-4C14-A784-0225C2F24D7D}" type="datetime3">
              <a:rPr lang="en-US" smtClean="0"/>
              <a:t>27 August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51AA38-4689-ED04-2202-21575FE0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EC9531-63F0-ED87-FAAC-E40198B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F42C-1299-60C2-3D13-3D5E0A21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3EE4A8-FA6C-7F38-C0C4-5A8B83F0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86C97-49B2-E5BC-AAC0-6669A8E2E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148197"/>
              </p:ext>
            </p:extLst>
          </p:nvPr>
        </p:nvGraphicFramePr>
        <p:xfrm>
          <a:off x="501636" y="988625"/>
          <a:ext cx="10852164" cy="3541819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Existing Research / Approach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Research Gap Identified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Our Proposed Solution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FHIR-Based Healthcare Interoperability</a:t>
                      </a:r>
                      <a:r>
                        <a:rPr lang="en-IN"/>
                        <a:t> – FHIR provides standardized healthcare resources for exchanging patient, medication, condition, and observation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FHIR mainly addresses </a:t>
                      </a:r>
                      <a:r>
                        <a:rPr lang="en-IN" b="1"/>
                        <a:t>data representation and interoperability</a:t>
                      </a:r>
                      <a:r>
                        <a:rPr lang="en-IN"/>
                        <a:t>; it does not itself provide Digital Twin simulation, DDI analysis, or ML-based drug-response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FHIR Integration Layer</a:t>
                      </a:r>
                      <a:r>
                        <a:rPr lang="en-IN"/>
                        <a:t> – Converts the simulated patient information into </a:t>
                      </a:r>
                      <a:r>
                        <a:rPr lang="en-IN" b="1"/>
                        <a:t>FHIR-style resources</a:t>
                      </a:r>
                      <a:r>
                        <a:rPr lang="en-IN"/>
                        <a:t> and connects interoperability with the Digital Twin analysis workflow.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 Service-Oriented / Modular Healthcare Systems</a:t>
                      </a:r>
                      <a:r>
                        <a:rPr lang="en-IN"/>
                        <a:t> – SOA and microservice approaches divide healthcare applications into independent, reusable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 Service-Oriented / Modular Healthcare Systems</a:t>
                      </a:r>
                      <a:r>
                        <a:rPr lang="en-IN"/>
                        <a:t> – SOA and microservice approaches divide healthcare applications into independent, reusable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5. Service-Oriented / Modular Healthcare Systems</a:t>
                      </a:r>
                      <a:r>
                        <a:rPr lang="en-IN" dirty="0"/>
                        <a:t> – SOA and microservice approaches divide healthcare applications into independent, reusable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6C2845-B013-BA0C-2584-53EE0BB4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E293-8B38-4C14-A784-0225C2F24D7D}" type="datetime3">
              <a:rPr lang="en-US" smtClean="0"/>
              <a:t>27 August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9A2EA8-5354-7A47-B1DA-ED31D75E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D22C6F-2EBD-6A1C-2B16-4DA25CF8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6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5BE31A-4BAA-369F-83FA-FA056E8C0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446BF-E235-37E7-7084-7C798C65D9DB}"/>
              </a:ext>
            </a:extLst>
          </p:cNvPr>
          <p:cNvSpPr txBox="1"/>
          <p:nvPr/>
        </p:nvSpPr>
        <p:spPr>
          <a:xfrm>
            <a:off x="401053" y="1941095"/>
            <a:ext cx="112615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Novelty 1: Integrated Patient-Level Digital Twin</a:t>
            </a:r>
          </a:p>
          <a:p>
            <a:r>
              <a:rPr lang="en-IN" dirty="0"/>
              <a:t>§ Unlike approaches that focus mainly on Digital Twin modelling, </a:t>
            </a:r>
            <a:r>
              <a:rPr lang="en-IN" b="1" dirty="0" err="1"/>
              <a:t>DoseTwin</a:t>
            </a:r>
            <a:r>
              <a:rPr lang="en-IN" b="1" dirty="0"/>
              <a:t> AI connects patient data, physiological observations, conditions, and medication information</a:t>
            </a:r>
            <a:r>
              <a:rPr lang="en-IN" dirty="0"/>
              <a:t> into a single patient-level Digital Twin for drug-response simulation.</a:t>
            </a:r>
          </a:p>
          <a:p>
            <a:endParaRPr lang="en-IN" dirty="0"/>
          </a:p>
          <a:p>
            <a:r>
              <a:rPr lang="en-IN" b="1" dirty="0"/>
              <a:t>Novelty 2: Unified Drug Response &amp; Medication Conflict Analysis</a:t>
            </a:r>
          </a:p>
          <a:p>
            <a:r>
              <a:rPr lang="en-IN" dirty="0"/>
              <a:t>§ Integrates </a:t>
            </a:r>
            <a:r>
              <a:rPr lang="en-IN" b="1" dirty="0"/>
              <a:t>AI/ML-based drug-response simulation with Knowledge Graph-based medication relationship analysis</a:t>
            </a:r>
            <a:r>
              <a:rPr lang="en-IN" dirty="0"/>
              <a:t>, enabling the system to evaluate </a:t>
            </a:r>
            <a:r>
              <a:rPr lang="en-IN" b="1" dirty="0"/>
              <a:t>drug response and potential medication conflicts within the same workflow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Novelty 3: End-to-End SOA Healthcare Framework</a:t>
            </a:r>
          </a:p>
          <a:p>
            <a:r>
              <a:rPr lang="en-IN" dirty="0"/>
              <a:t>§ Combines </a:t>
            </a:r>
            <a:r>
              <a:rPr lang="en-IN" b="1" dirty="0"/>
              <a:t>Digital Twin, HL7 FHIR, TensorFlow, Knowledge Graphs,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 into an </a:t>
            </a:r>
            <a:r>
              <a:rPr lang="en-IN" b="1" dirty="0"/>
              <a:t>executable service-oriented framework</a:t>
            </a:r>
            <a:r>
              <a:rPr lang="en-IN" dirty="0"/>
              <a:t>, connecting data, analytics, interoperability, and visualization through modular services.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128B4C-7D1A-4D70-D4F5-1F0DCF2D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7467-D487-4DB6-9E4F-A8857B2789A1}" type="datetime3">
              <a:rPr lang="en-US" smtClean="0"/>
              <a:t>27 August 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0D224A-2080-EADA-2F61-9DBD51D5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56AD5D-5E8A-D392-0BDB-C81A4F67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4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4BA1-2E94-2A56-D175-A3BFDBA1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263C-3D3A-53E1-2E02-2AE5FB7B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0CD3A11F-A881-078B-4141-87B727A61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775095"/>
              </p:ext>
            </p:extLst>
          </p:nvPr>
        </p:nvGraphicFramePr>
        <p:xfrm>
          <a:off x="1175900" y="1863408"/>
          <a:ext cx="9840200" cy="412937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20100">
                  <a:extLst>
                    <a:ext uri="{9D8B030D-6E8A-4147-A177-3AD203B41FA5}">
                      <a16:colId xmlns:a16="http://schemas.microsoft.com/office/drawing/2014/main" val="765011411"/>
                    </a:ext>
                  </a:extLst>
                </a:gridCol>
                <a:gridCol w="4920100">
                  <a:extLst>
                    <a:ext uri="{9D8B030D-6E8A-4147-A177-3AD203B41FA5}">
                      <a16:colId xmlns:a16="http://schemas.microsoft.com/office/drawing/2014/main" val="694063937"/>
                    </a:ext>
                  </a:extLst>
                </a:gridCol>
              </a:tblGrid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Stack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362807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Core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Digital Twin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822456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Healthcare Data &amp; Interoperability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HL7 FHIR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67492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AI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34204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Graphs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11664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Backend /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758650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833919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DevOps /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86376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CE7E-5D61-CF1F-2C85-F5AC4AD5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584A-62DD-4592-B6F4-EEFE14D0C992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B08B-C91B-E8DC-1C05-29B5104F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53CF-AC46-EBD1-ED20-5677DD02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C7F5F-BBE8-E858-FEFB-316D20BA7608}"/>
              </a:ext>
            </a:extLst>
          </p:cNvPr>
          <p:cNvSpPr txBox="1"/>
          <p:nvPr/>
        </p:nvSpPr>
        <p:spPr>
          <a:xfrm>
            <a:off x="706941" y="1723854"/>
            <a:ext cx="103471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Innovation:</a:t>
            </a:r>
          </a:p>
          <a:p>
            <a:r>
              <a:rPr lang="en-IN" sz="2000" dirty="0"/>
              <a:t>▪ Uses a </a:t>
            </a:r>
            <a:r>
              <a:rPr lang="en-IN" sz="2000" b="1" dirty="0"/>
              <a:t>patient Digital Twin</a:t>
            </a:r>
            <a:r>
              <a:rPr lang="en-IN" sz="2000" dirty="0"/>
              <a:t> to represent patient-specific health and medication information and </a:t>
            </a:r>
            <a:r>
              <a:rPr lang="en-IN" sz="2000" b="1" dirty="0"/>
              <a:t>simulate personalized drug responses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b="1" dirty="0"/>
              <a:t>Creativity:</a:t>
            </a:r>
          </a:p>
          <a:p>
            <a:r>
              <a:rPr lang="en-IN" sz="2000" dirty="0"/>
              <a:t>▪ Combines </a:t>
            </a:r>
            <a:r>
              <a:rPr lang="en-IN" sz="2000" b="1" dirty="0"/>
              <a:t>AI/ML, Knowledge Graphs, and medication-interaction analysis</a:t>
            </a:r>
            <a:r>
              <a:rPr lang="en-IN" sz="2000" dirty="0"/>
              <a:t> to connect patient–drug–condition relationships and identify </a:t>
            </a:r>
            <a:r>
              <a:rPr lang="en-IN" sz="2000" b="1" dirty="0"/>
              <a:t>potential medication conflicts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b="1" dirty="0"/>
              <a:t>Novelty:</a:t>
            </a:r>
          </a:p>
          <a:p>
            <a:r>
              <a:rPr lang="en-IN" sz="2000" dirty="0"/>
              <a:t>▪ Integrates </a:t>
            </a:r>
            <a:r>
              <a:rPr lang="en-IN" sz="2000" b="1" dirty="0"/>
              <a:t>Digital Twin, HL7 FHIR, TensorFlow, Knowledge Graphs, </a:t>
            </a:r>
            <a:r>
              <a:rPr lang="en-IN" sz="2000" b="1" dirty="0" err="1"/>
              <a:t>FastAPI</a:t>
            </a:r>
            <a:r>
              <a:rPr lang="en-IN" sz="2000" b="1" dirty="0"/>
              <a:t>, PostgreSQL, and Docker</a:t>
            </a:r>
            <a:r>
              <a:rPr lang="en-IN" sz="2000" dirty="0"/>
              <a:t> into an </a:t>
            </a:r>
            <a:r>
              <a:rPr lang="en-IN" sz="2000" b="1" dirty="0"/>
              <a:t>SOA-based microservices framework</a:t>
            </a:r>
            <a:r>
              <a:rPr lang="en-IN" sz="2000" dirty="0"/>
              <a:t> for personalized drug-response simulation and medication conflict prevention.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C573-8A13-2B34-99AC-C9BEAE22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8C3B9-B544-4649-9B34-8588B0C6F73C}" type="datetime3">
              <a:rPr lang="en-US" smtClean="0"/>
              <a:t>27 August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33AF9-2FFB-F8A8-A9B7-9BE2A51D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F58C4-8895-104F-5A10-4595D297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62E3-296B-464B-DAA7-31E552F7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963" y="25283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70B94-57FD-899C-59B6-19C53654B0DE}"/>
              </a:ext>
            </a:extLst>
          </p:cNvPr>
          <p:cNvSpPr txBox="1"/>
          <p:nvPr/>
        </p:nvSpPr>
        <p:spPr>
          <a:xfrm>
            <a:off x="448024" y="1353804"/>
            <a:ext cx="106925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Feasibility:</a:t>
            </a:r>
          </a:p>
          <a:p>
            <a:r>
              <a:rPr lang="en-IN" dirty="0" err="1"/>
              <a:t>DoseTwin</a:t>
            </a:r>
            <a:r>
              <a:rPr lang="en-IN" dirty="0"/>
              <a:t> AI is technically feasible using </a:t>
            </a:r>
            <a:r>
              <a:rPr lang="en-IN" b="1" dirty="0"/>
              <a:t>Digital Twins, HL7 FHIR, TensorFlow, Knowledge Graphs,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, enabling modular development and integration of the proposed SOA framework.</a:t>
            </a:r>
          </a:p>
          <a:p>
            <a:endParaRPr lang="en-IN" dirty="0"/>
          </a:p>
          <a:p>
            <a:r>
              <a:rPr lang="en-IN" b="1" dirty="0"/>
              <a:t>Operational Feasibility:</a:t>
            </a:r>
          </a:p>
          <a:p>
            <a:r>
              <a:rPr lang="en-IN" dirty="0"/>
              <a:t>The implemented workflow supports </a:t>
            </a:r>
            <a:r>
              <a:rPr lang="en-IN" b="1" dirty="0"/>
              <a:t>patient data management, medication analysis, drug-response simulation, and medication conflict detection</a:t>
            </a:r>
            <a:r>
              <a:rPr lang="en-IN" dirty="0"/>
              <a:t> through an integrated web application.</a:t>
            </a:r>
          </a:p>
          <a:p>
            <a:endParaRPr lang="en-IN" dirty="0"/>
          </a:p>
          <a:p>
            <a:r>
              <a:rPr lang="en-IN" b="1" dirty="0"/>
              <a:t>Economic Feasibility:</a:t>
            </a:r>
          </a:p>
          <a:p>
            <a:r>
              <a:rPr lang="en-IN" dirty="0"/>
              <a:t>The system can be developed and deployed using </a:t>
            </a:r>
            <a:r>
              <a:rPr lang="en-IN" b="1" dirty="0"/>
              <a:t>open-source technologies and frameworks</a:t>
            </a:r>
            <a:r>
              <a:rPr lang="en-IN" dirty="0"/>
              <a:t>, minimizing software licensing and infrastructure costs.</a:t>
            </a:r>
          </a:p>
          <a:p>
            <a:endParaRPr lang="en-IN" dirty="0"/>
          </a:p>
          <a:p>
            <a:r>
              <a:rPr lang="en-IN" b="1" dirty="0"/>
              <a:t>Scalability:</a:t>
            </a:r>
          </a:p>
          <a:p>
            <a:r>
              <a:rPr lang="en-IN" dirty="0"/>
              <a:t>The </a:t>
            </a:r>
            <a:r>
              <a:rPr lang="en-IN" b="1" dirty="0"/>
              <a:t>SOA-based microservices architecture</a:t>
            </a:r>
            <a:r>
              <a:rPr lang="en-IN" dirty="0"/>
              <a:t> allows individual services such as patient management, interaction analysis, ML prediction, FHIR processing, and Knowledge Graph services to be </a:t>
            </a:r>
            <a:r>
              <a:rPr lang="en-IN" b="1" dirty="0"/>
              <a:t>developed, deployed, and scaled independently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0E91-F1AC-568C-2F37-718251F2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1E2A-1D16-41D9-AF4A-A8E539E69D5F}" type="datetime3">
              <a:rPr lang="en-US" smtClean="0"/>
              <a:t>27 August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4A39-757C-0F51-F3BD-08947A23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E859D-DB9C-99C8-45C2-E51FA99C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1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Plan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5DB887DB-1CB5-5E21-2F2E-79DBEE565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0075139"/>
              </p:ext>
            </p:extLst>
          </p:nvPr>
        </p:nvGraphicFramePr>
        <p:xfrm>
          <a:off x="1074194" y="1455094"/>
          <a:ext cx="9499599" cy="4705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74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4431575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4085850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Activity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Current Status / Output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1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Literature Survey &amp; 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Literature reviewed and research gaps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2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Digital Twin &amp; SOA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Patient Digital Twin and modular SOA architecture 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3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Healthcare Data &amp; FHIR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Patient, medication, condition and observation data integrated with </a:t>
                      </a:r>
                      <a:r>
                        <a:rPr lang="en-IN" sz="1400" b="1"/>
                        <a:t>HL7 FHIR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4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AI/ML &amp; Knowledge Graph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Drug-response prediction and medication conflict analysis implemented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5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FastAPI &amp; PostgreSQL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Implemented</a:t>
                      </a:r>
                      <a:r>
                        <a:rPr lang="en-IN" sz="1400"/>
                        <a:t> – Backend services and structured database integration established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Docker, Testing &amp;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Completed</a:t>
                      </a:r>
                      <a:r>
                        <a:rPr lang="en-IN" sz="1400"/>
                        <a:t> – Services tested and end-to-end workflow verified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7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Documentation &amp; Final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 Progress</a:t>
                      </a:r>
                      <a:r>
                        <a:rPr lang="en-IN" sz="1400" dirty="0"/>
                        <a:t> – Review-2 presentation, documentation and project 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F40844-044F-5AF0-21A8-6E98A7B0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1776-9110-4E1A-B222-03B38CB053C9}" type="datetime3">
              <a:rPr lang="en-US" smtClean="0"/>
              <a:t>27 August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7CB612-92CB-DC63-4396-6873D722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A6103-5321-64DA-ABC2-1EE78554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2A5D-F551-3DB1-B504-D5D671B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Architecture/Project Overview: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0F6D0-3969-AAA2-79AD-C2E81381A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75" y="1548486"/>
            <a:ext cx="7416584" cy="49443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38234-AC94-EC4A-BFC0-D1C1E4ED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A6F7C-09B0-45B0-B30C-33E9AAF8B638}" type="datetime3">
              <a:rPr lang="en-US" smtClean="0"/>
              <a:t>27 August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F87C-FE38-9ED5-C7A9-66905030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3496C-5979-C941-29B3-5E402D7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1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2115</Words>
  <Application>Microsoft Office PowerPoint</Application>
  <PresentationFormat>Widescreen</PresentationFormat>
  <Paragraphs>265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Novelty</vt:lpstr>
      <vt:lpstr>Tech Stack </vt:lpstr>
      <vt:lpstr>PowerPoint Presentation</vt:lpstr>
      <vt:lpstr>Feasibility</vt:lpstr>
      <vt:lpstr>PowerPoint Presentation</vt:lpstr>
      <vt:lpstr>Project Architecture/Project Overview: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Akshay Saladi</cp:lastModifiedBy>
  <cp:revision>32</cp:revision>
  <dcterms:created xsi:type="dcterms:W3CDTF">2026-08-08T06:33:56Z</dcterms:created>
  <dcterms:modified xsi:type="dcterms:W3CDTF">2026-08-27T05:41:31Z</dcterms:modified>
</cp:coreProperties>
</file>