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62" r:id="rId3"/>
    <p:sldId id="707" r:id="rId4"/>
    <p:sldId id="257" r:id="rId5"/>
    <p:sldId id="903" r:id="rId6"/>
    <p:sldId id="902" r:id="rId7"/>
    <p:sldId id="258" r:id="rId8"/>
    <p:sldId id="904" r:id="rId9"/>
    <p:sldId id="905" r:id="rId10"/>
    <p:sldId id="259" r:id="rId11"/>
    <p:sldId id="906" r:id="rId12"/>
    <p:sldId id="260" r:id="rId13"/>
    <p:sldId id="90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74AE2-3321-425F-AEBF-BA55017BEAAF}" type="datetime3">
              <a:rPr lang="en-US" smtClean="0"/>
              <a:t>20 August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1A2DC-FA7A-4049-8559-DAEFA0F9134D}" type="datetime3">
              <a:rPr lang="en-US" smtClean="0"/>
              <a:t>20 August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B95C2-6C7D-4544-B3C5-DC0920DADB46}" type="datetime3">
              <a:rPr lang="en-US" smtClean="0"/>
              <a:t>20 August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EDBA2-04BF-434F-BBE8-224A7A8E3D5F}" type="datetime3">
              <a:rPr lang="en-US" smtClean="0"/>
              <a:t>20 August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EE073-134D-4E8D-AE2B-CF7BBE6EBF62}" type="datetime3">
              <a:rPr lang="en-US" smtClean="0"/>
              <a:t>20 August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1E4F-5CE6-4BAA-A58A-B401A72066D0}" type="datetime3">
              <a:rPr lang="en-US" smtClean="0"/>
              <a:t>20 August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5383-C4B5-46B1-9DA8-005CCE5ABF80}" type="datetime3">
              <a:rPr lang="en-US" smtClean="0"/>
              <a:t>20 August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0F3F0-AE40-4269-8D4F-01CC3386237A}" type="datetime3">
              <a:rPr lang="en-US" smtClean="0"/>
              <a:t>20 August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93059-9A80-4351-A9F9-D3CFEC3D4190}" type="datetime3">
              <a:rPr lang="en-US" smtClean="0"/>
              <a:t>20 August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594B-BCE5-4EEC-97A6-1A30791DA17B}" type="datetime3">
              <a:rPr lang="en-US" smtClean="0"/>
              <a:t>20 August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65030-591B-4511-BECB-F8DF036CAA9F}" type="datetime3">
              <a:rPr lang="en-US" smtClean="0"/>
              <a:t>20 August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E78DB-825A-4EA3-B188-A704F3692C99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9D18-C792-474A-B6F4-3177025BFFE0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451B6-86EE-469D-B722-295ECDFFE801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36CE-A75E-4DA0-9E53-2FEBAC06D23A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4310F-1027-4AE7-A75C-41F0F9FCC1DD}" type="datetime3">
              <a:rPr lang="en-US" smtClean="0"/>
              <a:t>20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DCA1-AA6B-44FA-B045-C61ED77F86FF}" type="datetime3">
              <a:rPr lang="en-US" smtClean="0"/>
              <a:t>20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10B51-D227-4412-8F1A-82530FADDC4B}" type="datetime3">
              <a:rPr lang="en-US" smtClean="0"/>
              <a:t>20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FF9A5-38F4-463C-AD32-D66FACBF22BA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8CFA-9E3F-4EC8-BC99-9E15266431E8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F2140-64E3-4ED1-8EB2-E0D5A16EFA70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AC6C4-8E12-4405-B60A-EC687C5FC919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38C995-9F28-4457-AF53-28AEEA69B19F}" type="datetime3">
              <a:rPr lang="en-US" smtClean="0"/>
              <a:t>20 August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AAF4F-4ADC-4A20-A721-D3BF9700C305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38250053/?utm_source=chatgpt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sciencedirect.com/science/article/pii/S0167739X26000142?utm_source=chatgpt.com" TargetMode="External"/><Relationship Id="rId4" Type="http://schemas.openxmlformats.org/officeDocument/2006/relationships/hyperlink" Target="https://www.sciencedirect.com/science/article/abs/pii/S004059572500112X?utm_source=chatgpt.com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August 20</a:t>
            </a:r>
            <a:r>
              <a:rPr lang="en-I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720785"/>
              </p:ext>
            </p:extLst>
          </p:nvPr>
        </p:nvGraphicFramePr>
        <p:xfrm>
          <a:off x="8193271" y="4898509"/>
          <a:ext cx="3702050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P Ruthvik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2420030546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S.Akshay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2420030579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P.Nitish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2420030642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83842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F488-101B-49B7-BB64-5E3E5678EA65}" type="datetime3">
              <a:rPr lang="en-US" b="1" smtClean="0"/>
              <a:t>20 August 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615636" y="865872"/>
            <a:ext cx="103305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DOSETWIN AI: A DIGITAL TWIN FRAMEWORK FOR PERSONALIZED DRUG RESPONSE SIMULATION AND MEDICATION CONFLICT PREVENTION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65FBF3-0815-4ACF-B8FA-9D212187C67D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 August 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SOA Project Review-1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926D60C-0C01-9639-86A0-A2F2698E9349}"/>
              </a:ext>
            </a:extLst>
          </p:cNvPr>
          <p:cNvSpPr txBox="1"/>
          <p:nvPr/>
        </p:nvSpPr>
        <p:spPr>
          <a:xfrm>
            <a:off x="850392" y="1591056"/>
            <a:ext cx="10515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Traditional medication systems often rely on generalized treatment approaches and may not effectively predict how individual patients respond to different drugs. Patients taking multiple medications are also at risk of </a:t>
            </a:r>
            <a:r>
              <a:rPr lang="en-IN" b="1" dirty="0"/>
              <a:t>drug–drug interactions, adverse reactions, and ineffective treatments</a:t>
            </a:r>
            <a:r>
              <a:rPr lang="en-IN" dirty="0"/>
              <a:t>. Existing systems mainly identify known conflicts but have limited ability to </a:t>
            </a:r>
            <a:r>
              <a:rPr lang="en-IN" b="1" dirty="0"/>
              <a:t>simulate personalized drug responses</a:t>
            </a:r>
            <a:r>
              <a:rPr lang="en-IN" dirty="0"/>
              <a:t> before treatment.</a:t>
            </a:r>
          </a:p>
          <a:p>
            <a:r>
              <a:rPr lang="en-IN" dirty="0"/>
              <a:t>Therefore, there is a need for an intelligent </a:t>
            </a:r>
            <a:r>
              <a:rPr lang="en-IN" b="1" dirty="0"/>
              <a:t>Digital Twin-based framework</a:t>
            </a:r>
            <a:r>
              <a:rPr lang="en-IN" dirty="0"/>
              <a:t> that can create a virtual representation of a patient, </a:t>
            </a:r>
            <a:r>
              <a:rPr lang="en-IN" dirty="0" err="1"/>
              <a:t>analyze</a:t>
            </a:r>
            <a:r>
              <a:rPr lang="en-IN" dirty="0"/>
              <a:t> their medical and medication data, simulate potential drug responses, and identify medication conflicts. </a:t>
            </a:r>
            <a:r>
              <a:rPr lang="en-IN" b="1" dirty="0"/>
              <a:t>DoseTwin AI</a:t>
            </a:r>
            <a:r>
              <a:rPr lang="en-IN" dirty="0"/>
              <a:t> aims to address this gap by combining Digital Twins, HL7 FHIR, TensorFlow, Knowledge Graphs, and microservices to support safer and more personalized medication decisions.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3F740-D339-3558-B145-8E1E86916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4C8F-9F67-4F05-A4FF-B20AEBCB954C}" type="datetime3">
              <a:rPr lang="en-US" smtClean="0"/>
              <a:t>20 August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427B9-146B-6F98-29AE-C4FAF3823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C61D1-4D00-A0D7-2575-146A0870C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D56164-9DBB-BEE2-9120-BE07B8CC6890}"/>
              </a:ext>
            </a:extLst>
          </p:cNvPr>
          <p:cNvSpPr txBox="1"/>
          <p:nvPr/>
        </p:nvSpPr>
        <p:spPr>
          <a:xfrm>
            <a:off x="868680" y="1508760"/>
            <a:ext cx="104333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develop a </a:t>
            </a:r>
            <a:r>
              <a:rPr lang="en-IN" b="1" dirty="0"/>
              <a:t>Digital Twin model</a:t>
            </a:r>
            <a:r>
              <a:rPr lang="en-IN" dirty="0"/>
              <a:t> for simulating personalized patient drug responses.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identify and prevent potential </a:t>
            </a:r>
            <a:r>
              <a:rPr lang="en-IN" b="1" dirty="0"/>
              <a:t>drug–drug and medication conflicts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</a:t>
            </a:r>
            <a:r>
              <a:rPr lang="en-IN" dirty="0" err="1"/>
              <a:t>analyze</a:t>
            </a:r>
            <a:r>
              <a:rPr lang="en-IN" dirty="0"/>
              <a:t> patient and medication data using </a:t>
            </a:r>
            <a:r>
              <a:rPr lang="en-IN" b="1" dirty="0"/>
              <a:t>TensorFlow and Knowledge Graphs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provide standardized healthcare data exchange using </a:t>
            </a:r>
            <a:r>
              <a:rPr lang="en-IN" b="1" dirty="0"/>
              <a:t>HL7 FHIR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build a scalable </a:t>
            </a:r>
            <a:r>
              <a:rPr lang="en-IN" b="1" dirty="0"/>
              <a:t>microservices-based architecture</a:t>
            </a:r>
            <a:r>
              <a:rPr lang="en-IN" dirty="0"/>
              <a:t> using </a:t>
            </a:r>
            <a:r>
              <a:rPr lang="en-IN" dirty="0" err="1"/>
              <a:t>FastAPI</a:t>
            </a:r>
            <a:r>
              <a:rPr lang="en-IN" dirty="0"/>
              <a:t>, PostgreSQL, and Docker.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support </a:t>
            </a:r>
            <a:r>
              <a:rPr lang="en-IN" b="1" dirty="0"/>
              <a:t>safer and more personalized medication decisions</a:t>
            </a:r>
            <a:r>
              <a:rPr lang="en-IN" dirty="0"/>
              <a:t>. 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AD77D-0BC9-1B0E-CD21-011A86EA0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9C3F4-E892-4B94-BBB7-5EF69E3A8556}" type="datetime3">
              <a:rPr lang="en-US" smtClean="0"/>
              <a:t>20 August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53341-77F3-6822-6F5F-EF08A8CC3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7EF2B-43BA-5434-320B-C20649F0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0695379"/>
              </p:ext>
            </p:extLst>
          </p:nvPr>
        </p:nvGraphicFramePr>
        <p:xfrm>
          <a:off x="274646" y="689466"/>
          <a:ext cx="11642705" cy="4673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Authors</a:t>
                      </a:r>
                      <a:endParaRPr lang="en-IN" sz="14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Title of the Paper</a:t>
                      </a:r>
                      <a:endParaRPr lang="en-IN" sz="14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Methodology</a:t>
                      </a:r>
                      <a:endParaRPr lang="en-IN" sz="14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Inferences</a:t>
                      </a:r>
                      <a:endParaRPr lang="en-IN" sz="14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Limitation / Future Work</a:t>
                      </a:r>
                      <a:endParaRPr lang="en-IN" sz="14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Saratkar et al. [1]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Digital Twin for Personalized Medicine Development, Frontiers in Digital Health, 2025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• Digital Twin models for patient-specific healthcare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• Integration of AI, ML and patient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• Digital Twins can support personalized treatment and predictive healthcare.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• Enables patient-specific simulation and treatment planning.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• Data privacy and interoperability remain challenges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.• Requires further clinical validation before routine adoption.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Ludwig et al. [2]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Digital Patient Twins for Personalized Therapeutics and Pharmaceutical Manufacturing, Frontiers in Digital Health, 2023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• Digital patient twins using patient and population data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• AI and data-driven </a:t>
                      </a:r>
                      <a:r>
                        <a:rPr lang="en-IN" sz="1400" dirty="0" err="1"/>
                        <a:t>modeling</a:t>
                      </a:r>
                      <a:r>
                        <a:rPr lang="en-IN" sz="1400" dirty="0"/>
                        <a:t> for personalized therapeutics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• Digital patient twins can support personalized drug treatment.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• Highlights the potential for predicting individual drug responses.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• Reliable individual drug-response simulations are still limited.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• Regulatory, scalability and implementation challenges remain.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Woillard et al. [3]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Digital Pharmacological Twins: Bridging Multi-Scale Modelling and Artificial Intelligence for Precision Medicine, Therapie, 2026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• Multi-scale pharmacological modelling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• AI/ML with pharmacokinetic and pharmacodynamic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• Digital pharmacological twins can simulate drug interactions and individual treatment responses.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• Supports precision dosing and reduction of adverse drug reactions.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• Requires strong data integration and model validation.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• Interoperability and clinical implementation need further research.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B8718-2467-4ED4-9D8D-E9091B0968F9}" type="datetime3">
              <a:rPr lang="en-US" smtClean="0"/>
              <a:t>20 August 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2903621" y="31127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Research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955B0C-CBB3-D246-6164-0B73CB5A8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243727"/>
              </p:ext>
            </p:extLst>
          </p:nvPr>
        </p:nvGraphicFramePr>
        <p:xfrm>
          <a:off x="525539" y="957606"/>
          <a:ext cx="10852164" cy="5675419"/>
        </p:xfrm>
        <a:graphic>
          <a:graphicData uri="http://schemas.openxmlformats.org/drawingml/2006/table">
            <a:tbl>
              <a:tblPr/>
              <a:tblGrid>
                <a:gridCol w="3583264">
                  <a:extLst>
                    <a:ext uri="{9D8B030D-6E8A-4147-A177-3AD203B41FA5}">
                      <a16:colId xmlns:a16="http://schemas.microsoft.com/office/drawing/2014/main" val="4061101483"/>
                    </a:ext>
                  </a:extLst>
                </a:gridCol>
                <a:gridCol w="3634450">
                  <a:extLst>
                    <a:ext uri="{9D8B030D-6E8A-4147-A177-3AD203B41FA5}">
                      <a16:colId xmlns:a16="http://schemas.microsoft.com/office/drawing/2014/main" val="1499037303"/>
                    </a:ext>
                  </a:extLst>
                </a:gridCol>
                <a:gridCol w="3634450">
                  <a:extLst>
                    <a:ext uri="{9D8B030D-6E8A-4147-A177-3AD203B41FA5}">
                      <a16:colId xmlns:a16="http://schemas.microsoft.com/office/drawing/2014/main" val="1240095816"/>
                    </a:ext>
                  </a:extLst>
                </a:gridCol>
              </a:tblGrid>
              <a:tr h="228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Existing Research / Approach</a:t>
                      </a:r>
                      <a:endParaRPr lang="en-IN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Research Gap Identified</a:t>
                      </a:r>
                      <a:endParaRPr lang="en-IN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Our Proposed Solution</a:t>
                      </a:r>
                      <a:endParaRPr lang="en-IN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47572"/>
                  </a:ext>
                </a:extLst>
              </a:tr>
              <a:tr h="1773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1. Digital Patient Twins for Personalized Healthcare</a:t>
                      </a:r>
                      <a:r>
                        <a:rPr lang="en-IN" sz="1400"/>
                        <a:t> – Existing research uses Digital Twins to represent patients by integrating medical, physiological, and health data for personalized healthcare and treatment planning.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Current Digital Twin research is still developing, and </a:t>
                      </a:r>
                      <a:r>
                        <a:rPr lang="en-IN" sz="1400" b="1"/>
                        <a:t>reliable patient-specific drug-response simulation is not yet fully achievable</a:t>
                      </a:r>
                      <a:r>
                        <a:rPr lang="en-IN" sz="1400"/>
                        <a:t>. Many approaches remain conceptual or limited to specific diseases or physiological conditions. (</a:t>
                      </a:r>
                      <a:r>
                        <a:rPr lang="en-IN" sz="1400">
                          <a:hlinkClick r:id="rId3" tooltip="Digital patient twins for personalized therapeutics and pharmaceutical manufacturing - PubMed"/>
                        </a:rPr>
                        <a:t>PubMed</a:t>
                      </a:r>
                      <a:r>
                        <a:rPr lang="en-IN" sz="140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DoseTwin AI Digital Twin</a:t>
                      </a:r>
                      <a:r>
                        <a:rPr lang="en-IN" sz="1400"/>
                        <a:t> – Creates a patient-specific virtual model that combines patient medical data, medication history, and AI-based drug-response prediction to simulate possible treatment outcomes before medication is administered.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024174"/>
                  </a:ext>
                </a:extLst>
              </a:tr>
              <a:tr h="1430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2. AI-Based Drug Response and Interaction Prediction</a:t>
                      </a:r>
                      <a:r>
                        <a:rPr lang="en-IN" sz="1400"/>
                        <a:t> – Machine Learning and pharmacological models are increasingly used to predict drug effects, adverse reactions, and drug–drug interactions.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Existing approaches often focus on </a:t>
                      </a:r>
                      <a:r>
                        <a:rPr lang="en-IN" sz="1400" b="1"/>
                        <a:t>individual prediction tasks</a:t>
                      </a:r>
                      <a:r>
                        <a:rPr lang="en-IN" sz="1400"/>
                        <a:t> and do not provide a unified patient model that continuously combines medication information, patient characteristics, and interaction relationships. Reliable individualized drug-response prediction remains a major challenge. (</a:t>
                      </a:r>
                      <a:r>
                        <a:rPr lang="en-IN" sz="1400">
                          <a:hlinkClick r:id="rId4" tooltip="Digital pharmacological twins: Bridging multi-scale modelling and artificial intelligence for precision medicine: The DIGPHAT consortium - ScienceDirect"/>
                        </a:rPr>
                        <a:t>ScienceDirect</a:t>
                      </a:r>
                      <a:r>
                        <a:rPr lang="en-IN" sz="140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AI Drug Response &amp; Conflict Engine</a:t>
                      </a:r>
                      <a:r>
                        <a:rPr lang="en-IN" sz="1400"/>
                        <a:t> – Uses </a:t>
                      </a:r>
                      <a:r>
                        <a:rPr lang="en-IN" sz="1400" b="1"/>
                        <a:t>TensorFlow + Knowledge Graphs</a:t>
                      </a:r>
                      <a:r>
                        <a:rPr lang="en-IN" sz="1400"/>
                        <a:t> to analyze patient-specific factors, medicines, and relationships between drugs, identifying potential conflicts and predicting likely responses.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096993"/>
                  </a:ext>
                </a:extLst>
              </a:tr>
              <a:tr h="1773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3. FHIR-Based and Knowledge-Graph Healthcare Systems</a:t>
                      </a:r>
                      <a:r>
                        <a:rPr lang="en-IN" sz="1400"/>
                        <a:t> – Recent systems use </a:t>
                      </a:r>
                      <a:r>
                        <a:rPr lang="en-IN" sz="1400" b="1"/>
                        <a:t>HL7 FHIR, Knowledge Graphs, and AI</a:t>
                      </a:r>
                      <a:r>
                        <a:rPr lang="en-IN" sz="1400"/>
                        <a:t> to improve healthcare interoperability and patient-centric data management.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Although these technologies improve data integration, there is still a need for a </a:t>
                      </a:r>
                      <a:r>
                        <a:rPr lang="en-IN" sz="1400" b="1"/>
                        <a:t>scalable system that connects standardized patient data directly with Digital Twin simulation and medication safety analysis</a:t>
                      </a:r>
                      <a:r>
                        <a:rPr lang="en-IN" sz="1400"/>
                        <a:t>. Interoperability, data integration, validation, privacy, and scalability remain challenges. (</a:t>
                      </a:r>
                      <a:r>
                        <a:rPr lang="en-IN" sz="1400">
                          <a:hlinkClick r:id="rId5" tooltip="A knowledge graph-driven framework for deploying AI-powered patient digital twins - ScienceDirect"/>
                        </a:rPr>
                        <a:t>ScienceDirect</a:t>
                      </a:r>
                      <a:r>
                        <a:rPr lang="en-IN" sz="140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FHIR-Enabled Microservices Architecture</a:t>
                      </a:r>
                      <a:r>
                        <a:rPr lang="en-IN" sz="1400" dirty="0"/>
                        <a:t> – DoseTwin AI integrates </a:t>
                      </a:r>
                      <a:r>
                        <a:rPr lang="en-IN" sz="1400" b="1" dirty="0"/>
                        <a:t>HL7 FHIR + Knowledge Graph + TensorFlow</a:t>
                      </a:r>
                      <a:r>
                        <a:rPr lang="en-IN" sz="1400" dirty="0"/>
                        <a:t> through </a:t>
                      </a:r>
                      <a:r>
                        <a:rPr lang="en-IN" sz="1400" dirty="0" err="1"/>
                        <a:t>FastAPI</a:t>
                      </a:r>
                      <a:r>
                        <a:rPr lang="en-IN" sz="1400" dirty="0"/>
                        <a:t> microservices, with PostgreSQL for structured data and Docker for scalable deployment, enabling personalized drug simulation and medication conflict prevention.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387076"/>
                  </a:ext>
                </a:extLst>
              </a:tr>
            </a:tbl>
          </a:graphicData>
        </a:graphic>
      </p:graphicFrame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347C12D-6482-0415-446D-5C68257ED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DE293-8B38-4C14-A784-0225C2F24D7D}" type="datetime3">
              <a:rPr lang="en-US" smtClean="0"/>
              <a:t>20 August 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C51AA38-4689-ED04-2202-21575FE0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3EC9531-63F0-ED87-FAAC-E40198BA2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75BE31A-4BAA-369F-83FA-FA056E8C05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77041"/>
            <a:ext cx="10515600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1446BF-E235-37E7-7084-7C798C65D9DB}"/>
              </a:ext>
            </a:extLst>
          </p:cNvPr>
          <p:cNvSpPr txBox="1"/>
          <p:nvPr/>
        </p:nvSpPr>
        <p:spPr>
          <a:xfrm>
            <a:off x="401053" y="1941095"/>
            <a:ext cx="1126155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Novelty 1 : Personalized Drug-Response Digital Twin </a:t>
            </a:r>
            <a:br>
              <a:rPr lang="en-IN" dirty="0"/>
            </a:b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Creates a virtual representation of an individual patient to </a:t>
            </a:r>
            <a:r>
              <a:rPr lang="en-IN" b="1" dirty="0"/>
              <a:t>simulate and predict drug responses</a:t>
            </a:r>
            <a:r>
              <a:rPr lang="en-IN" dirty="0"/>
              <a:t> based on patient-specific medical and medication data. 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Novelty 2 : AI + Knowledge Graph for Medication Conflict Prevention</a:t>
            </a:r>
            <a:br>
              <a:rPr lang="en-IN" dirty="0"/>
            </a:b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Combines </a:t>
            </a:r>
            <a:r>
              <a:rPr lang="en-IN" b="1" dirty="0"/>
              <a:t>TensorFlow and Knowledge Graphs</a:t>
            </a:r>
            <a:r>
              <a:rPr lang="en-IN" dirty="0"/>
              <a:t> to identify relationships between patients, drugs, diseases, and medications, enabling </a:t>
            </a:r>
            <a:r>
              <a:rPr lang="en-IN" b="1" dirty="0"/>
              <a:t>early detection of potential drug–drug conflicts</a:t>
            </a:r>
            <a:r>
              <a:rPr lang="en-IN" dirty="0"/>
              <a:t>. 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Novelty 3 : FHIR-Enabled Microservices Architecture</a:t>
            </a:r>
            <a:br>
              <a:rPr lang="en-IN" dirty="0"/>
            </a:b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Integrates </a:t>
            </a:r>
            <a:r>
              <a:rPr lang="en-IN" b="1" dirty="0"/>
              <a:t>HL7 FHIR with </a:t>
            </a:r>
            <a:r>
              <a:rPr lang="en-IN" b="1" dirty="0" err="1"/>
              <a:t>FastAPI</a:t>
            </a:r>
            <a:r>
              <a:rPr lang="en-IN" b="1" dirty="0"/>
              <a:t> microservices, PostgreSQL, and Docker</a:t>
            </a:r>
            <a:r>
              <a:rPr lang="en-IN" dirty="0"/>
              <a:t> to provide standardized, scalable, and interoperable healthcare data processing for personalized medication safety.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2128B4C-7D1A-4D70-D4F5-1F0DCF2DC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87467-D487-4DB6-9E4F-A8857B2789A1}" type="datetime3">
              <a:rPr lang="en-US" smtClean="0"/>
              <a:t>20 August 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C0D224A-2080-EADA-2F61-9DBD51D50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756AD5D-5E8A-D392-0BDB-C81A4F673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234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A4BA1-2E94-2A56-D175-A3BFDBA1F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B263C-3D3A-53E1-2E02-2AE5FB7BF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 </a:t>
            </a:r>
            <a:endParaRPr lang="en-IN" dirty="0"/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0CD3A11F-A881-078B-4141-87B727A619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3775095"/>
              </p:ext>
            </p:extLst>
          </p:nvPr>
        </p:nvGraphicFramePr>
        <p:xfrm>
          <a:off x="1175900" y="1863408"/>
          <a:ext cx="9840200" cy="4129376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920100">
                  <a:extLst>
                    <a:ext uri="{9D8B030D-6E8A-4147-A177-3AD203B41FA5}">
                      <a16:colId xmlns:a16="http://schemas.microsoft.com/office/drawing/2014/main" val="765011411"/>
                    </a:ext>
                  </a:extLst>
                </a:gridCol>
                <a:gridCol w="4920100">
                  <a:extLst>
                    <a:ext uri="{9D8B030D-6E8A-4147-A177-3AD203B41FA5}">
                      <a16:colId xmlns:a16="http://schemas.microsoft.com/office/drawing/2014/main" val="694063937"/>
                    </a:ext>
                  </a:extLst>
                </a:gridCol>
              </a:tblGrid>
              <a:tr h="434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Layer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Technology Stack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4362807"/>
                  </a:ext>
                </a:extLst>
              </a:tr>
              <a:tr h="434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Core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Digital Twin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822456"/>
                  </a:ext>
                </a:extLst>
              </a:tr>
              <a:tr h="434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Healthcare Data &amp; Interoperability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HL7 FHIR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7567492"/>
                  </a:ext>
                </a:extLst>
              </a:tr>
              <a:tr h="434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AI &amp; 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TensorFlow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034204"/>
                  </a:ext>
                </a:extLst>
              </a:tr>
              <a:tr h="434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Knowledge Representation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Knowledge Graphs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111664"/>
                  </a:ext>
                </a:extLst>
              </a:tr>
              <a:tr h="760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Backend / Microservices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FastAPI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4758650"/>
                  </a:ext>
                </a:extLst>
              </a:tr>
              <a:tr h="434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PostgreSQL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4833919"/>
                  </a:ext>
                </a:extLst>
              </a:tr>
              <a:tr h="760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DevOps / 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Docker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0863768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7CE7E-5D61-CF1F-2C85-F5AC4AD52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9584A-62DD-4592-B6F4-EEFE14D0C992}" type="datetime3">
              <a:rPr lang="en-US" smtClean="0"/>
              <a:t>20 August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FB08B-C91B-E8DC-1C05-29B5104F0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653CF-AC46-EBD1-ED20-5677DD024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66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CBC7F5F-BBE8-E858-FEFB-316D20BA7608}"/>
              </a:ext>
            </a:extLst>
          </p:cNvPr>
          <p:cNvSpPr txBox="1"/>
          <p:nvPr/>
        </p:nvSpPr>
        <p:spPr>
          <a:xfrm>
            <a:off x="706941" y="1723854"/>
            <a:ext cx="1034715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000" b="1" dirty="0"/>
              <a:t>Innovation:</a:t>
            </a:r>
            <a:r>
              <a:rPr lang="en-IN" sz="2000" dirty="0"/>
              <a:t>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/>
              <a:t>Uses a </a:t>
            </a:r>
            <a:r>
              <a:rPr lang="en-IN" sz="2000" b="1" dirty="0"/>
              <a:t>Digital Twin of the patient</a:t>
            </a:r>
            <a:r>
              <a:rPr lang="en-IN" sz="2000" dirty="0"/>
              <a:t> to simulate personalized drug responses before treatment. </a:t>
            </a:r>
          </a:p>
          <a:p>
            <a:pPr lvl="0"/>
            <a:endParaRPr lang="en-IN" sz="2000" b="1" dirty="0"/>
          </a:p>
          <a:p>
            <a:pPr lvl="0"/>
            <a:endParaRPr lang="en-IN" sz="2000" b="1" dirty="0"/>
          </a:p>
          <a:p>
            <a:pPr lvl="0"/>
            <a:r>
              <a:rPr lang="en-IN" sz="2000" b="1" dirty="0"/>
              <a:t>Creativity:</a:t>
            </a:r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/>
              <a:t> Combines </a:t>
            </a:r>
            <a:r>
              <a:rPr lang="en-IN" sz="2000" b="1" dirty="0"/>
              <a:t>TensorFlow and Knowledge Graphs</a:t>
            </a:r>
            <a:r>
              <a:rPr lang="en-IN" sz="2000" dirty="0"/>
              <a:t> to </a:t>
            </a:r>
            <a:r>
              <a:rPr lang="en-IN" sz="2000" dirty="0" err="1"/>
              <a:t>analyze</a:t>
            </a:r>
            <a:r>
              <a:rPr lang="en-IN" sz="2000" dirty="0"/>
              <a:t> patient–drug relationships and detect potential medication conflicts. </a:t>
            </a:r>
          </a:p>
          <a:p>
            <a:pPr lvl="0"/>
            <a:endParaRPr lang="en-IN" sz="2000" b="1" dirty="0"/>
          </a:p>
          <a:p>
            <a:pPr lvl="0"/>
            <a:endParaRPr lang="en-IN" sz="2000" b="1" dirty="0"/>
          </a:p>
          <a:p>
            <a:pPr lvl="0"/>
            <a:r>
              <a:rPr lang="en-IN" sz="2000" b="1" dirty="0"/>
              <a:t>Novelty:</a:t>
            </a:r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/>
              <a:t> Integrates </a:t>
            </a:r>
            <a:r>
              <a:rPr lang="en-IN" sz="2000" b="1" dirty="0"/>
              <a:t>Digital Twin, HL7 FHIR, AI, and Knowledge Graphs</a:t>
            </a:r>
            <a:r>
              <a:rPr lang="en-IN" sz="2000" dirty="0"/>
              <a:t> into a </a:t>
            </a:r>
            <a:r>
              <a:rPr lang="en-IN" sz="2000" b="1" dirty="0"/>
              <a:t>microservices-based framework</a:t>
            </a:r>
            <a:r>
              <a:rPr lang="en-IN" sz="2000" dirty="0"/>
              <a:t> for personalized drug-response simulation and medication safety.</a:t>
            </a:r>
          </a:p>
          <a:p>
            <a:endParaRPr lang="en-IN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4C573-8A13-2B34-99AC-C9BEAE224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8C3B9-B544-4649-9B34-8588B0C6F73C}" type="datetime3">
              <a:rPr lang="en-US" smtClean="0"/>
              <a:t>20 August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33AF9-2FFB-F8A8-A9B7-9BE2A51D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F58C4-8895-104F-5A10-4595D2972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162E3-296B-464B-DAA7-31E552F71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870B94-57FD-899C-59B6-19C53654B0DE}"/>
              </a:ext>
            </a:extLst>
          </p:cNvPr>
          <p:cNvSpPr txBox="1"/>
          <p:nvPr/>
        </p:nvSpPr>
        <p:spPr>
          <a:xfrm>
            <a:off x="528234" y="1690688"/>
            <a:ext cx="1069253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Technical Feasibility: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The project can be implemented using </a:t>
            </a:r>
            <a:r>
              <a:rPr lang="en-IN" b="1" dirty="0"/>
              <a:t>Digital Twins, HL7 FHIR, TensorFlow, Knowledge Graphs, </a:t>
            </a:r>
            <a:r>
              <a:rPr lang="en-IN" b="1" dirty="0" err="1"/>
              <a:t>FastAPI</a:t>
            </a:r>
            <a:r>
              <a:rPr lang="en-IN" b="1" dirty="0"/>
              <a:t>, PostgreSQL, and Docker</a:t>
            </a:r>
            <a:r>
              <a:rPr lang="en-IN" dirty="0"/>
              <a:t>, which are suitable for building the proposed system. 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Operational Feasibility: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DoseTwin AI can provide a simple workflow for </a:t>
            </a:r>
            <a:r>
              <a:rPr lang="en-IN" b="1" dirty="0"/>
              <a:t>patient data management, drug-response simulation, and medication conflict detection</a:t>
            </a:r>
            <a:r>
              <a:rPr lang="en-IN" dirty="0"/>
              <a:t>, making it practical for healthcare-related use. </a:t>
            </a:r>
          </a:p>
          <a:p>
            <a:pPr lvl="0"/>
            <a:endParaRPr lang="en-IN" b="1" dirty="0"/>
          </a:p>
          <a:p>
            <a:pPr lvl="0"/>
            <a:r>
              <a:rPr lang="en-IN" b="1" dirty="0"/>
              <a:t>Economic Feasibility: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The project can be developed using </a:t>
            </a:r>
            <a:r>
              <a:rPr lang="en-IN" b="1" dirty="0"/>
              <a:t>open-source technologies and frameworks</a:t>
            </a:r>
            <a:r>
              <a:rPr lang="en-IN" dirty="0"/>
              <a:t>, reducing development and deployment costs. </a:t>
            </a:r>
          </a:p>
          <a:p>
            <a:pPr lvl="0"/>
            <a:endParaRPr lang="en-IN" b="1" dirty="0"/>
          </a:p>
          <a:p>
            <a:pPr lvl="0"/>
            <a:r>
              <a:rPr lang="en-IN" b="1" dirty="0"/>
              <a:t>Scalability: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The </a:t>
            </a:r>
            <a:r>
              <a:rPr lang="en-IN" b="1" dirty="0"/>
              <a:t>microservices architecture and Docker</a:t>
            </a:r>
            <a:r>
              <a:rPr lang="en-IN" dirty="0"/>
              <a:t> enable individual services to be developed, deployed, and scaled independently.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00E91-F1AC-568C-2F37-718251F25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B1E2A-1D16-41D9-AF4A-A8E539E69D5F}" type="datetime3">
              <a:rPr lang="en-US" smtClean="0"/>
              <a:t>20 August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84A39-757C-0F51-F3BD-08947A232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E859D-DB9C-99C8-45C2-E51FA99C0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014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 Plan</a:t>
            </a:r>
            <a:endParaRPr lang="en-US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3" name="Content Placeholder 10">
            <a:extLst>
              <a:ext uri="{FF2B5EF4-FFF2-40B4-BE49-F238E27FC236}">
                <a16:creationId xmlns:a16="http://schemas.microsoft.com/office/drawing/2014/main" id="{5DB887DB-1CB5-5E21-2F2E-79DBEE565A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4353296"/>
              </p:ext>
            </p:extLst>
          </p:nvPr>
        </p:nvGraphicFramePr>
        <p:xfrm>
          <a:off x="1234615" y="1668272"/>
          <a:ext cx="9499599" cy="4484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174">
                  <a:extLst>
                    <a:ext uri="{9D8B030D-6E8A-4147-A177-3AD203B41FA5}">
                      <a16:colId xmlns:a16="http://schemas.microsoft.com/office/drawing/2014/main" val="865632583"/>
                    </a:ext>
                  </a:extLst>
                </a:gridCol>
                <a:gridCol w="4431575">
                  <a:extLst>
                    <a:ext uri="{9D8B030D-6E8A-4147-A177-3AD203B41FA5}">
                      <a16:colId xmlns:a16="http://schemas.microsoft.com/office/drawing/2014/main" val="2856754256"/>
                    </a:ext>
                  </a:extLst>
                </a:gridCol>
                <a:gridCol w="4085850">
                  <a:extLst>
                    <a:ext uri="{9D8B030D-6E8A-4147-A177-3AD203B41FA5}">
                      <a16:colId xmlns:a16="http://schemas.microsoft.com/office/drawing/2014/main" val="3992791816"/>
                    </a:ext>
                  </a:extLst>
                </a:gridCol>
              </a:tblGrid>
              <a:tr h="426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Phase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Activity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Output</a:t>
                      </a:r>
                      <a:endParaRPr lang="en-IN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510404"/>
                  </a:ext>
                </a:extLst>
              </a:tr>
              <a:tr h="735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Phase 1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Literature Survey &amp; Requirement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Problem definition and system requirements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4812841"/>
                  </a:ext>
                </a:extLst>
              </a:tr>
              <a:tr h="420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Phase 2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Digital Twin &amp; System Architecture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Digital Twin and microservices architecture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198534"/>
                  </a:ext>
                </a:extLst>
              </a:tr>
              <a:tr h="735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Phase 3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Healthcare Data &amp; FHIR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HL7 FHIR-based patient and medication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7565806"/>
                  </a:ext>
                </a:extLst>
              </a:tr>
              <a:tr h="426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Phase 4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AI &amp; Knowledge Graph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Drug-response prediction and medication conflict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4477876"/>
                  </a:ext>
                </a:extLst>
              </a:tr>
              <a:tr h="735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Phase 5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FastAPI &amp; PostgreSQL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Connected services and structured data management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3361741"/>
                  </a:ext>
                </a:extLst>
              </a:tr>
              <a:tr h="426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Phase 6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Docker Integration, Testing &amp;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Integrated and validated working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6513394"/>
                  </a:ext>
                </a:extLst>
              </a:tr>
              <a:tr h="426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Phase 7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Documentation &amp; Final Demonstration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Project report and working prototype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3654068"/>
                  </a:ext>
                </a:extLst>
              </a:tr>
            </a:tbl>
          </a:graphicData>
        </a:graphic>
      </p:graphicFrame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8F40844-044F-5AF0-21A8-6E98A7B0D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1776-9110-4E1A-B222-03B38CB053C9}" type="datetime3">
              <a:rPr lang="en-US" smtClean="0"/>
              <a:t>20 August 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37CB612-92CB-DC63-4396-6873D722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9A6103-5321-64DA-ABC2-1EE785543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32A5D-F551-3DB1-B504-D5D671B37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Architecture/Project Overview: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F0F6D0-3969-AAA2-79AD-C2E81381A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375" y="1548486"/>
            <a:ext cx="7416584" cy="49443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D38234-AC94-EC4A-BFC0-D1C1E4EDA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A6F7C-09B0-45B0-B30C-33E9AAF8B638}" type="datetime3">
              <a:rPr lang="en-US" smtClean="0"/>
              <a:t>20 August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AAF87C-FE38-9ED5-C7A9-669050300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23496C-5979-C941-29B3-5E402D7C0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410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1333</Words>
  <Application>Microsoft Office PowerPoint</Application>
  <PresentationFormat>Widescreen</PresentationFormat>
  <Paragraphs>210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Calibri Light</vt:lpstr>
      <vt:lpstr>Times New Roman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Novelty</vt:lpstr>
      <vt:lpstr>Tech Stack </vt:lpstr>
      <vt:lpstr>PowerPoint Presentation</vt:lpstr>
      <vt:lpstr>Feasibility</vt:lpstr>
      <vt:lpstr>PowerPoint Presentation</vt:lpstr>
      <vt:lpstr>Project Architecture/Project Overview: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Akshay Saladi</cp:lastModifiedBy>
  <cp:revision>31</cp:revision>
  <dcterms:created xsi:type="dcterms:W3CDTF">2026-08-08T06:33:56Z</dcterms:created>
  <dcterms:modified xsi:type="dcterms:W3CDTF">2026-08-20T05:19:36Z</dcterms:modified>
</cp:coreProperties>
</file>