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3" r:id="rId6"/>
    <p:sldId id="902" r:id="rId7"/>
    <p:sldId id="258" r:id="rId8"/>
    <p:sldId id="904" r:id="rId9"/>
    <p:sldId id="905" r:id="rId10"/>
    <p:sldId id="259" r:id="rId11"/>
    <p:sldId id="906" r:id="rId12"/>
    <p:sldId id="260" r:id="rId13"/>
    <p:sldId id="9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4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74AE2-3321-425F-AEBF-BA55017BEAAF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1A2DC-FA7A-4049-8559-DAEFA0F9134D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B95C2-6C7D-4544-B3C5-DC0920DADB46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EDBA2-04BF-434F-BBE8-224A7A8E3D5F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EE073-134D-4E8D-AE2B-CF7BBE6EBF62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1E4F-5CE6-4BAA-A58A-B401A72066D0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5383-C4B5-46B1-9DA8-005CCE5ABF80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0F3F0-AE40-4269-8D4F-01CC3386237A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93059-9A80-4351-A9F9-D3CFEC3D4190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F594B-BCE5-4EEC-97A6-1A30791DA17B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65030-591B-4511-BECB-F8DF036CAA9F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E78DB-825A-4EA3-B188-A704F3692C99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F9D18-C792-474A-B6F4-3177025BFFE0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451B6-86EE-469D-B722-295ECDFFE801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36CE-A75E-4DA0-9E53-2FEBAC06D23A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4310F-1027-4AE7-A75C-41F0F9FCC1DD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DCA1-AA6B-44FA-B045-C61ED77F86FF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10B51-D227-4412-8F1A-82530FADDC4B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FF9A5-38F4-463C-AD32-D66FACBF22BA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8CFA-9E3F-4EC8-BC99-9E15266431E8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2140-64E3-4ED1-8EB2-E0D5A16EFA70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C6C4-8E12-4405-B60A-EC687C5FC919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8C995-9F28-4457-AF53-28AEEA69B19F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AAF4F-4ADC-4A20-A721-D3BF9700C305}" type="datetime3">
              <a:rPr lang="en-US" smtClean="0"/>
              <a:t>16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SOA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20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20785"/>
              </p:ext>
            </p:extLst>
          </p:nvPr>
        </p:nvGraphicFramePr>
        <p:xfrm>
          <a:off x="8193271" y="4898509"/>
          <a:ext cx="3702050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 Ruthvik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2420030546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S.Akshay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2420030579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P.Nitish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2420030642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9F488-101B-49B7-BB64-5E3E5678EA65}" type="datetime3">
              <a:rPr lang="en-US" b="1" smtClean="0"/>
              <a:t>16 September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15636" y="865872"/>
            <a:ext cx="10330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DOSETWIN AI: A DIGITAL TWIN FRAMEWORK FOR PERSONALIZED DRUG RESPONSE SIMULATION AND MEDICATION CONFLICT PREVENTION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65FBF3-0815-4ACF-B8FA-9D212187C67D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 September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SOA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26D60C-0C01-9639-86A0-A2F2698E9349}"/>
              </a:ext>
            </a:extLst>
          </p:cNvPr>
          <p:cNvSpPr txBox="1"/>
          <p:nvPr/>
        </p:nvSpPr>
        <p:spPr>
          <a:xfrm>
            <a:off x="850392" y="1591056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Conventional medication decision-making often relies on </a:t>
            </a:r>
            <a:r>
              <a:rPr lang="en-IN" b="1" dirty="0"/>
              <a:t>generalized patient information</a:t>
            </a:r>
            <a:r>
              <a:rPr lang="en-IN" dirty="0"/>
              <a:t> and </a:t>
            </a:r>
            <a:r>
              <a:rPr lang="en-IN" b="1" dirty="0"/>
              <a:t>predefined drug-interaction databases</a:t>
            </a:r>
            <a:r>
              <a:rPr lang="en-IN" dirty="0"/>
              <a:t>, which may not fully capture an individual's unique clinical characteristics. Variations in </a:t>
            </a:r>
            <a:r>
              <a:rPr lang="en-IN" b="1" dirty="0"/>
              <a:t>medical history, existing medications, laboratory results, vital signs, demographic information, and clinical conditions</a:t>
            </a:r>
            <a:r>
              <a:rPr lang="en-IN" dirty="0"/>
              <a:t> can influence drug response and medication-related risks. Existing approaches also have limited capability to represent the patient's </a:t>
            </a:r>
            <a:r>
              <a:rPr lang="en-IN" b="1" dirty="0"/>
              <a:t>dynamic clinical state</a:t>
            </a:r>
            <a:r>
              <a:rPr lang="en-IN" dirty="0"/>
              <a:t> and simulate potential medication responses before treatment decisions. Therefore, </a:t>
            </a:r>
            <a:r>
              <a:rPr lang="en-IN" b="1" dirty="0" err="1"/>
              <a:t>DoseTwin</a:t>
            </a:r>
            <a:r>
              <a:rPr lang="en-IN" b="1" dirty="0"/>
              <a:t> AI</a:t>
            </a:r>
            <a:r>
              <a:rPr lang="en-IN" dirty="0"/>
              <a:t> proposes an </a:t>
            </a:r>
            <a:r>
              <a:rPr lang="en-IN" b="1" dirty="0"/>
              <a:t>intelligent, patient-specific framework</a:t>
            </a:r>
            <a:r>
              <a:rPr lang="en-IN" dirty="0"/>
              <a:t> integrating </a:t>
            </a:r>
            <a:r>
              <a:rPr lang="en-IN" b="1" dirty="0"/>
              <a:t>Digital Twins, HL7 FHIR, TensorFlow, Knowledge Graphs,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 to enable </a:t>
            </a:r>
            <a:r>
              <a:rPr lang="en-IN" b="1" dirty="0"/>
              <a:t>personalized drug-response simulation</a:t>
            </a:r>
            <a:r>
              <a:rPr lang="en-IN" dirty="0"/>
              <a:t> and </a:t>
            </a:r>
            <a:r>
              <a:rPr lang="en-IN" b="1" dirty="0"/>
              <a:t>medication conflict prevention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3F740-D339-3558-B145-8E1E8691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4C8F-9F67-4F05-A4FF-B20AEBCB954C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427B9-146B-6F98-29AE-C4FAF382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C61D1-4D00-A0D7-2575-146A0870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D56164-9DBB-BEE2-9120-BE07B8CC6890}"/>
              </a:ext>
            </a:extLst>
          </p:cNvPr>
          <p:cNvSpPr txBox="1"/>
          <p:nvPr/>
        </p:nvSpPr>
        <p:spPr>
          <a:xfrm>
            <a:off x="868680" y="1508760"/>
            <a:ext cx="104333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Digital Twin of the patient</a:t>
            </a:r>
            <a:r>
              <a:rPr lang="en-IN" dirty="0"/>
              <a:t> that represents dynamic clinical information such as </a:t>
            </a:r>
            <a:r>
              <a:rPr lang="en-IN" b="1" dirty="0"/>
              <a:t>medical history, medications, vital signs, and laboratory parameters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integrate </a:t>
            </a:r>
            <a:r>
              <a:rPr lang="en-IN" b="1" dirty="0"/>
              <a:t>HL7 FHIR</a:t>
            </a:r>
            <a:r>
              <a:rPr lang="en-IN" dirty="0"/>
              <a:t> for </a:t>
            </a:r>
            <a:r>
              <a:rPr lang="en-IN" b="1" dirty="0"/>
              <a:t>standardized and interoperable healthcare data representation and exchange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implement </a:t>
            </a:r>
            <a:r>
              <a:rPr lang="en-IN" b="1" dirty="0"/>
              <a:t>TensorFlow-based drug-response prediction</a:t>
            </a:r>
            <a:r>
              <a:rPr lang="en-IN" dirty="0"/>
              <a:t> for </a:t>
            </a:r>
            <a:r>
              <a:rPr lang="en-IN" dirty="0" err="1"/>
              <a:t>analyzing</a:t>
            </a:r>
            <a:r>
              <a:rPr lang="en-IN" dirty="0"/>
              <a:t> potential personalized responses to selected medications.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develop a </a:t>
            </a:r>
            <a:r>
              <a:rPr lang="en-IN" b="1" dirty="0"/>
              <a:t>Knowledge Graph using Neo4j</a:t>
            </a:r>
            <a:r>
              <a:rPr lang="en-IN" dirty="0"/>
              <a:t> to represent relationships between </a:t>
            </a:r>
            <a:r>
              <a:rPr lang="en-IN" b="1" dirty="0"/>
              <a:t>drugs, diseases, medications, and potential interactions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detect </a:t>
            </a:r>
            <a:r>
              <a:rPr lang="en-IN" b="1" dirty="0"/>
              <a:t>potential medication conflicts</a:t>
            </a:r>
            <a:r>
              <a:rPr lang="en-IN" dirty="0"/>
              <a:t> and generate </a:t>
            </a:r>
            <a:r>
              <a:rPr lang="en-IN" b="1" dirty="0"/>
              <a:t>risk levels, explanations, and supporting recommendations</a:t>
            </a:r>
            <a:r>
              <a:rPr lang="en-IN" dirty="0"/>
              <a:t> based on patient-specific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To integrate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 to provide a </a:t>
            </a:r>
            <a:r>
              <a:rPr lang="en-IN" b="1" dirty="0"/>
              <a:t>scalable, persistent, and containerized healthcare analysis framework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AD77D-0BC9-1B0E-CD21-011A86EA0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9C3F4-E892-4B94-BBB7-5EF69E3A8556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3341-77F3-6822-6F5F-EF08A8CC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7EF2B-43BA-5434-320B-C20649F0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7467022"/>
              </p:ext>
            </p:extLst>
          </p:nvPr>
        </p:nvGraphicFramePr>
        <p:xfrm>
          <a:off x="274646" y="909593"/>
          <a:ext cx="11642705" cy="503881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Authors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Title of the Paper</a:t>
                      </a:r>
                      <a:endParaRPr lang="en-IN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Methodology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Inferences</a:t>
                      </a:r>
                      <a:endParaRPr lang="en-IN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Limitation / Future Work</a:t>
                      </a:r>
                      <a:endParaRPr lang="en-IN" sz="16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Saratkar et al. [1]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1" dirty="0"/>
                        <a:t>Digital Twin for Personalized Medicine Development, Frontiers in Digital Health, 2025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Digital Twin models for patient-specific healthcare• Integration of AI, ML and patient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Supports </a:t>
                      </a:r>
                      <a:r>
                        <a:rPr lang="en-IN" sz="1600" b="1"/>
                        <a:t>personalized treatment</a:t>
                      </a:r>
                      <a:r>
                        <a:rPr lang="en-IN" sz="1600"/>
                        <a:t> and predictive healthcare• Enables patient-specific simulation and treatment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Data privacy and interoperability remain challenges• Requires further clinical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Ludwig et al. [2]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1"/>
                        <a:t>Digital Patient Twins for Therapeutics and Pharmaceutical Manufacturing, Frontiers in Digital Health, 2023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Digital Patient Twins using patient and population data• AI and data-driven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Supports </a:t>
                      </a:r>
                      <a:r>
                        <a:rPr lang="en-IN" sz="1600" b="1"/>
                        <a:t>personalized drug treatment</a:t>
                      </a:r>
                      <a:r>
                        <a:rPr lang="en-IN" sz="1600"/>
                        <a:t>• Highlights potential for predicting individual drug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Reliable individual drug-response simulation remains limited• Regulatory and scalability challenges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Wollard et al. [3]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i="1"/>
                        <a:t>Digital Pharmacological Twins: Bridging Multi-Scale Modeling and Artificial Intelligence for Precision Medicine, Therapie, 2026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Multi-scale pharmacological modelling• AI/ML with pharmacokinetic and pharmacodynamic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• Supports simulation of </a:t>
                      </a:r>
                      <a:r>
                        <a:rPr lang="en-IN" sz="1600" b="1"/>
                        <a:t>drug interactions and individual treatment responses</a:t>
                      </a:r>
                      <a:r>
                        <a:rPr lang="en-IN" sz="1600"/>
                        <a:t>• Can assist with dosing and adverse-drug-response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• Requires strong data integration and model validation• Interoperability and clinical implementation require further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8718-2467-4ED4-9D8D-E9091B0968F9}" type="datetime3">
              <a:rPr lang="en-US" smtClean="0"/>
              <a:t>16 September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SOA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903621" y="3112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955B0C-CBB3-D246-6164-0B73CB5A8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648074"/>
              </p:ext>
            </p:extLst>
          </p:nvPr>
        </p:nvGraphicFramePr>
        <p:xfrm>
          <a:off x="525539" y="957606"/>
          <a:ext cx="10852164" cy="5462059"/>
        </p:xfrm>
        <a:graphic>
          <a:graphicData uri="http://schemas.openxmlformats.org/drawingml/2006/table">
            <a:tbl>
              <a:tblPr/>
              <a:tblGrid>
                <a:gridCol w="3583264">
                  <a:extLst>
                    <a:ext uri="{9D8B030D-6E8A-4147-A177-3AD203B41FA5}">
                      <a16:colId xmlns:a16="http://schemas.microsoft.com/office/drawing/2014/main" val="406110148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499037303"/>
                    </a:ext>
                  </a:extLst>
                </a:gridCol>
                <a:gridCol w="3634450">
                  <a:extLst>
                    <a:ext uri="{9D8B030D-6E8A-4147-A177-3AD203B41FA5}">
                      <a16:colId xmlns:a16="http://schemas.microsoft.com/office/drawing/2014/main" val="1240095816"/>
                    </a:ext>
                  </a:extLst>
                </a:gridCol>
              </a:tblGrid>
              <a:tr h="22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Existing Research / Approach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Research Gap Identified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Our Proposed Solution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47572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1. Digital Twins for Personalized Healthcare</a:t>
                      </a:r>
                      <a:r>
                        <a:rPr lang="en-IN" sz="1600"/>
                        <a:t> – Existing research uses Digital Twins to represent patients by integrating medical, physiological, and health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Reliable </a:t>
                      </a:r>
                      <a:r>
                        <a:rPr lang="en-IN" sz="1600" b="1"/>
                        <a:t>patient-specific drug-response simulation</a:t>
                      </a:r>
                      <a:r>
                        <a:rPr lang="en-IN" sz="1600"/>
                        <a:t> is still challenging, with many approaches focusing on limited diseases or physiological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DoseTwin AI Digital Twin</a:t>
                      </a:r>
                      <a:r>
                        <a:rPr lang="en-IN" sz="1600"/>
                        <a:t> – Creates a patient-specific virtual model combining </a:t>
                      </a:r>
                      <a:r>
                        <a:rPr lang="en-IN" sz="1600" b="1"/>
                        <a:t>medical history, medications, conditions, observations, and AI-based drug-response prediction</a:t>
                      </a:r>
                      <a:r>
                        <a:rPr lang="en-IN" sz="160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024174"/>
                  </a:ext>
                </a:extLst>
              </a:tr>
              <a:tr h="1430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2. AI-Based Drug Response &amp; Interaction Prediction</a:t>
                      </a:r>
                      <a:r>
                        <a:rPr lang="en-IN" sz="1600"/>
                        <a:t> – Machine Learning and pharmacological models are used to predict drug effects, adverse reactions, and drug–drug interactions.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Existing approaches often focus on </a:t>
                      </a:r>
                      <a:r>
                        <a:rPr lang="en-IN" sz="1600" b="1"/>
                        <a:t>individual prediction tasks</a:t>
                      </a:r>
                      <a:r>
                        <a:rPr lang="en-IN" sz="1600"/>
                        <a:t> rather than continuously combining patient characteristics, medication information, and drug relationships.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AI Drug Response &amp; Conflict Engine</a:t>
                      </a:r>
                      <a:r>
                        <a:rPr lang="en-IN" sz="1600"/>
                        <a:t> – Uses </a:t>
                      </a:r>
                      <a:r>
                        <a:rPr lang="en-IN" sz="1600" b="1"/>
                        <a:t>TensorFlow + Knowledge Graphs</a:t>
                      </a:r>
                      <a:r>
                        <a:rPr lang="en-IN" sz="1600"/>
                        <a:t> to analyze patient-specific factors, medicines, and relationships for drug-response and conflict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096993"/>
                  </a:ext>
                </a:extLst>
              </a:tr>
              <a:tr h="1773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3. FHIR-Based &amp; Knowledge-Graph Healthcare Systems</a:t>
                      </a:r>
                      <a:r>
                        <a:rPr lang="en-IN" sz="1600"/>
                        <a:t> – Existing systems use </a:t>
                      </a:r>
                      <a:r>
                        <a:rPr lang="en-IN" sz="1600" b="1"/>
                        <a:t>HL7 FHIR, Knowledge Graphs, and AI</a:t>
                      </a:r>
                      <a:r>
                        <a:rPr lang="en-IN" sz="1600"/>
                        <a:t> to improve healthcare interoperability and patient-centric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There is a need for an </a:t>
                      </a:r>
                      <a:r>
                        <a:rPr lang="en-IN" sz="1600" b="1"/>
                        <a:t>integrated and scalable architecture</a:t>
                      </a:r>
                      <a:r>
                        <a:rPr lang="en-IN" sz="1600"/>
                        <a:t> connecting standardized healthcare data, patient state, AI prediction, and medication safety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FHIR-Enabled Integrated Architecture</a:t>
                      </a:r>
                      <a:r>
                        <a:rPr lang="en-IN" sz="1600" dirty="0"/>
                        <a:t> – Combines </a:t>
                      </a:r>
                      <a:r>
                        <a:rPr lang="en-IN" sz="1600" b="1" dirty="0"/>
                        <a:t>HL7 FHIR + Digital Twin + TensorFlow + Knowledge Graph + </a:t>
                      </a:r>
                      <a:r>
                        <a:rPr lang="en-IN" sz="1600" b="1" dirty="0" err="1"/>
                        <a:t>FastAPI</a:t>
                      </a:r>
                      <a:r>
                        <a:rPr lang="en-IN" sz="1600" b="1" dirty="0"/>
                        <a:t> + PostgreSQL + Docker</a:t>
                      </a:r>
                      <a:r>
                        <a:rPr lang="en-IN" sz="1600" dirty="0"/>
                        <a:t> for personalized drug analysis and medication conflict prevention.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387076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47C12D-6482-0415-446D-5C68257ED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E293-8B38-4C14-A784-0225C2F24D7D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51AA38-4689-ED04-2202-21575FE0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EC9531-63F0-ED87-FAAC-E40198B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75BE31A-4BAA-369F-83FA-FA056E8C0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77041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446BF-E235-37E7-7084-7C798C65D9DB}"/>
              </a:ext>
            </a:extLst>
          </p:cNvPr>
          <p:cNvSpPr txBox="1"/>
          <p:nvPr/>
        </p:nvSpPr>
        <p:spPr>
          <a:xfrm>
            <a:off x="838200" y="1720840"/>
            <a:ext cx="100263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novelty of </a:t>
            </a:r>
            <a:r>
              <a:rPr lang="en-IN" b="1" dirty="0" err="1"/>
              <a:t>DoseTwin</a:t>
            </a:r>
            <a:r>
              <a:rPr lang="en-IN" b="1" dirty="0"/>
              <a:t> AI</a:t>
            </a:r>
            <a:r>
              <a:rPr lang="en-IN" dirty="0"/>
              <a:t> lies in integrating multiple intelligent healthcare technologies into a </a:t>
            </a:r>
            <a:r>
              <a:rPr lang="en-IN" b="1" dirty="0"/>
              <a:t>single patient-specific framework</a:t>
            </a:r>
            <a:r>
              <a:rPr lang="en-IN" dirty="0"/>
              <a:t>:</a:t>
            </a:r>
          </a:p>
          <a:p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Digital Twin–based patient </a:t>
            </a:r>
            <a:r>
              <a:rPr lang="en-IN" b="1" dirty="0" err="1"/>
              <a:t>modeling</a:t>
            </a:r>
            <a:r>
              <a:rPr lang="en-IN" dirty="0"/>
              <a:t> for representing the patient’s changing clinical state.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TensorFlow-based personalized drug-response simulation</a:t>
            </a:r>
            <a:r>
              <a:rPr lang="en-IN" dirty="0"/>
              <a:t> instead of relying only on general drug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Neo4j Knowledge Graph</a:t>
            </a:r>
            <a:r>
              <a:rPr lang="en-IN" dirty="0"/>
              <a:t> to connect patients, drugs, conditions, observations, and medication interactions.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HL7 FHIR integration</a:t>
            </a:r>
            <a:r>
              <a:rPr lang="en-IN" dirty="0"/>
              <a:t> for standardized and interoperable healthcare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Combined risk analysis</a:t>
            </a:r>
            <a:r>
              <a:rPr lang="en-IN" dirty="0"/>
              <a:t> using patient information, predicted drug response, and medication-conflict relationships.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End-to-end containerized architecture</a:t>
            </a:r>
            <a:r>
              <a:rPr lang="en-IN" dirty="0"/>
              <a:t> using </a:t>
            </a:r>
            <a:r>
              <a:rPr lang="en-IN" b="1" dirty="0" err="1"/>
              <a:t>FastAPI</a:t>
            </a:r>
            <a:r>
              <a:rPr lang="en-IN" b="1" dirty="0"/>
              <a:t>, PostgreSQL, and Docker</a:t>
            </a:r>
            <a:r>
              <a:rPr lang="en-IN" dirty="0"/>
              <a:t> for scalable deployment.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128B4C-7D1A-4D70-D4F5-1F0DCF2DC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7467-D487-4DB6-9E4F-A8857B2789A1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C0D224A-2080-EADA-2F61-9DBD51D5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56AD5D-5E8A-D392-0BDB-C81A4F67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3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4BA1-2E94-2A56-D175-A3BFDBA1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B263C-3D3A-53E1-2E02-2AE5FB7B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0CD3A11F-A881-078B-4141-87B727A61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775095"/>
              </p:ext>
            </p:extLst>
          </p:nvPr>
        </p:nvGraphicFramePr>
        <p:xfrm>
          <a:off x="1175900" y="1863408"/>
          <a:ext cx="9840200" cy="412937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4920100">
                  <a:extLst>
                    <a:ext uri="{9D8B030D-6E8A-4147-A177-3AD203B41FA5}">
                      <a16:colId xmlns:a16="http://schemas.microsoft.com/office/drawing/2014/main" val="765011411"/>
                    </a:ext>
                  </a:extLst>
                </a:gridCol>
                <a:gridCol w="4920100">
                  <a:extLst>
                    <a:ext uri="{9D8B030D-6E8A-4147-A177-3AD203B41FA5}">
                      <a16:colId xmlns:a16="http://schemas.microsoft.com/office/drawing/2014/main" val="694063937"/>
                    </a:ext>
                  </a:extLst>
                </a:gridCol>
              </a:tblGrid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Technology Stack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362807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Core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Digital Twin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822456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Healthcare Data &amp; Interoperability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HL7 FHIR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567492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AI &amp; 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TensorFlow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034204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Knowledge Graphs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11664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Backend /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FastAPI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758650"/>
                  </a:ext>
                </a:extLst>
              </a:tr>
              <a:tr h="434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4833919"/>
                  </a:ext>
                </a:extLst>
              </a:tr>
              <a:tr h="760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/>
                        <a:t>DevOps /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Docker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86376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7CE7E-5D61-CF1F-2C85-F5AC4AD52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9584A-62DD-4592-B6F4-EEFE14D0C992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FB08B-C91B-E8DC-1C05-29B5104F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53CF-AC46-EBD1-ED20-5677DD02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66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BC7F5F-BBE8-E858-FEFB-316D20BA7608}"/>
              </a:ext>
            </a:extLst>
          </p:cNvPr>
          <p:cNvSpPr txBox="1"/>
          <p:nvPr/>
        </p:nvSpPr>
        <p:spPr>
          <a:xfrm>
            <a:off x="706941" y="1723854"/>
            <a:ext cx="103471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</a:t>
            </a:r>
          </a:p>
          <a:p>
            <a:r>
              <a:rPr lang="en-IN" sz="2000" b="1" dirty="0"/>
              <a:t>AI-Driven Personalized Drug Analysis</a:t>
            </a:r>
            <a:br>
              <a:rPr lang="en-IN" sz="2000" dirty="0"/>
            </a:br>
            <a:r>
              <a:rPr lang="en-IN" sz="2000" dirty="0"/>
              <a:t>Uses </a:t>
            </a:r>
            <a:r>
              <a:rPr lang="en-IN" sz="2000" b="1" dirty="0"/>
              <a:t>TensorFlow</a:t>
            </a:r>
            <a:r>
              <a:rPr lang="en-IN" sz="2000" dirty="0"/>
              <a:t> with patient-specific clinical data to support personalized drug-response simulation.</a:t>
            </a:r>
          </a:p>
          <a:p>
            <a:endParaRPr lang="en-IN" sz="2000" dirty="0"/>
          </a:p>
          <a:p>
            <a:r>
              <a:rPr lang="en-IN" sz="2000" b="1" dirty="0"/>
              <a:t>Creativity</a:t>
            </a:r>
          </a:p>
          <a:p>
            <a:r>
              <a:rPr lang="en-IN" sz="2000" b="1" dirty="0"/>
              <a:t>Digital Twin + Knowledge Graph Integration</a:t>
            </a:r>
            <a:br>
              <a:rPr lang="en-IN" sz="2000" dirty="0"/>
            </a:br>
            <a:r>
              <a:rPr lang="en-IN" sz="2000" dirty="0"/>
              <a:t>Combines a </a:t>
            </a:r>
            <a:r>
              <a:rPr lang="en-IN" sz="2000" b="1" dirty="0"/>
              <a:t>patient Digital Twin</a:t>
            </a:r>
            <a:r>
              <a:rPr lang="en-IN" sz="2000" dirty="0"/>
              <a:t> with a </a:t>
            </a:r>
            <a:r>
              <a:rPr lang="en-IN" sz="2000" b="1" dirty="0"/>
              <a:t>Knowledge Graph</a:t>
            </a:r>
            <a:r>
              <a:rPr lang="en-IN" sz="2000" dirty="0"/>
              <a:t> to connect patient conditions, medications, observations, and drug interactions.</a:t>
            </a:r>
          </a:p>
          <a:p>
            <a:endParaRPr lang="en-IN" sz="2000" dirty="0"/>
          </a:p>
          <a:p>
            <a:r>
              <a:rPr lang="en-IN" sz="2000" b="1" dirty="0"/>
              <a:t>Novelty</a:t>
            </a:r>
          </a:p>
          <a:p>
            <a:r>
              <a:rPr lang="en-IN" sz="2000" b="1" dirty="0"/>
              <a:t>Integrated Patient-Specific Risk Assessment</a:t>
            </a:r>
            <a:br>
              <a:rPr lang="en-IN" sz="2000" dirty="0"/>
            </a:br>
            <a:r>
              <a:rPr lang="en-IN" sz="2000" dirty="0"/>
              <a:t>Combines </a:t>
            </a:r>
            <a:r>
              <a:rPr lang="en-IN" sz="2000" b="1" dirty="0"/>
              <a:t>Digital Twin data, AI prediction, medication conflict detection, and HL7 FHIR</a:t>
            </a:r>
            <a:r>
              <a:rPr lang="en-IN" sz="2000" dirty="0"/>
              <a:t> within a single healthcare framework.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4C573-8A13-2B34-99AC-C9BEAE22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8C3B9-B544-4649-9B34-8588B0C6F73C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33AF9-2FFB-F8A8-A9B7-9BE2A51D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F58C4-8895-104F-5A10-4595D297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62E3-296B-464B-DAA7-31E552F7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870B94-57FD-899C-59B6-19C53654B0DE}"/>
              </a:ext>
            </a:extLst>
          </p:cNvPr>
          <p:cNvSpPr txBox="1"/>
          <p:nvPr/>
        </p:nvSpPr>
        <p:spPr>
          <a:xfrm>
            <a:off x="528234" y="1690688"/>
            <a:ext cx="106925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</a:t>
            </a:r>
            <a:br>
              <a:rPr lang="en-IN" dirty="0"/>
            </a:br>
            <a:r>
              <a:rPr lang="en-IN" dirty="0"/>
              <a:t>Uses established technologies such as </a:t>
            </a:r>
            <a:r>
              <a:rPr lang="en-IN" b="1" dirty="0" err="1"/>
              <a:t>FastAPI</a:t>
            </a:r>
            <a:r>
              <a:rPr lang="en-IN" b="1" dirty="0"/>
              <a:t>, TensorFlow, Neo4j, PostgreSQL, HL7 FHIR, and Docker</a:t>
            </a:r>
            <a:r>
              <a:rPr lang="en-IN" dirty="0"/>
              <a:t>, which can be integrated into the proposed system.</a:t>
            </a:r>
          </a:p>
          <a:p>
            <a:endParaRPr lang="en-IN" dirty="0"/>
          </a:p>
          <a:p>
            <a:r>
              <a:rPr lang="en-IN" b="1" dirty="0"/>
              <a:t>Operational Feasibility</a:t>
            </a:r>
            <a:br>
              <a:rPr lang="en-IN" dirty="0"/>
            </a:br>
            <a:r>
              <a:rPr lang="en-IN" dirty="0"/>
              <a:t>Provides a </a:t>
            </a:r>
            <a:r>
              <a:rPr lang="en-IN" b="1" dirty="0"/>
              <a:t>simple web-based interface</a:t>
            </a:r>
            <a:r>
              <a:rPr lang="en-IN" dirty="0"/>
              <a:t> for entering patient information, </a:t>
            </a:r>
            <a:r>
              <a:rPr lang="en-IN" dirty="0" err="1"/>
              <a:t>analyzing</a:t>
            </a:r>
            <a:r>
              <a:rPr lang="en-IN" dirty="0"/>
              <a:t> medications, and viewing drug-response and conflict results.</a:t>
            </a:r>
          </a:p>
          <a:p>
            <a:endParaRPr lang="en-IN" dirty="0"/>
          </a:p>
          <a:p>
            <a:r>
              <a:rPr lang="en-IN" b="1" dirty="0"/>
              <a:t>Economic Feasibility</a:t>
            </a:r>
            <a:br>
              <a:rPr lang="en-IN" dirty="0"/>
            </a:br>
            <a:r>
              <a:rPr lang="en-IN" dirty="0"/>
              <a:t>Uses </a:t>
            </a:r>
            <a:r>
              <a:rPr lang="en-IN" b="1" dirty="0"/>
              <a:t>open-source frameworks and tools</a:t>
            </a:r>
            <a:r>
              <a:rPr lang="en-IN" dirty="0"/>
              <a:t>, reducing development and deployment costs.</a:t>
            </a:r>
          </a:p>
          <a:p>
            <a:endParaRPr lang="en-IN" dirty="0"/>
          </a:p>
          <a:p>
            <a:r>
              <a:rPr lang="en-IN" b="1" dirty="0"/>
              <a:t>Scalability Feasibility</a:t>
            </a:r>
            <a:br>
              <a:rPr lang="en-IN" dirty="0"/>
            </a:br>
            <a:r>
              <a:rPr lang="en-IN" dirty="0"/>
              <a:t>The </a:t>
            </a:r>
            <a:r>
              <a:rPr lang="en-IN" b="1" dirty="0"/>
              <a:t>Docker-based architecture</a:t>
            </a:r>
            <a:r>
              <a:rPr lang="en-IN" dirty="0"/>
              <a:t> allows individual components to be deployed, maintained, and scaled as the system grows.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0E91-F1AC-568C-2F37-718251F25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B1E2A-1D16-41D9-AF4A-A8E539E69D5F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4A39-757C-0F51-F3BD-08947A23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E859D-DB9C-99C8-45C2-E51FA99C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01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Plan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5DB887DB-1CB5-5E21-2F2E-79DBEE565A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813921"/>
              </p:ext>
            </p:extLst>
          </p:nvPr>
        </p:nvGraphicFramePr>
        <p:xfrm>
          <a:off x="1058152" y="1511018"/>
          <a:ext cx="9499599" cy="4795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174">
                  <a:extLst>
                    <a:ext uri="{9D8B030D-6E8A-4147-A177-3AD203B41FA5}">
                      <a16:colId xmlns:a16="http://schemas.microsoft.com/office/drawing/2014/main" val="865632583"/>
                    </a:ext>
                  </a:extLst>
                </a:gridCol>
                <a:gridCol w="4431575">
                  <a:extLst>
                    <a:ext uri="{9D8B030D-6E8A-4147-A177-3AD203B41FA5}">
                      <a16:colId xmlns:a16="http://schemas.microsoft.com/office/drawing/2014/main" val="2856754256"/>
                    </a:ext>
                  </a:extLst>
                </a:gridCol>
                <a:gridCol w="4085850">
                  <a:extLst>
                    <a:ext uri="{9D8B030D-6E8A-4147-A177-3AD203B41FA5}">
                      <a16:colId xmlns:a16="http://schemas.microsoft.com/office/drawing/2014/main" val="3992791816"/>
                    </a:ext>
                  </a:extLst>
                </a:gridCol>
              </a:tblGrid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Activity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Output</a:t>
                      </a:r>
                      <a:endParaRPr lang="en-IN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51040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1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Requirement Analysis &amp; Literature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Finalized requirements and 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812841"/>
                  </a:ext>
                </a:extLst>
              </a:tr>
              <a:tr h="420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2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Digital Twin &amp; System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Patient Digital Twin and integrated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198534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3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HL7 FHIR 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Standardized patient, medication &amp; observation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565806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4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TensorFlow AI Model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Personalized drug-response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4477876"/>
                  </a:ext>
                </a:extLst>
              </a:tr>
              <a:tr h="735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5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Neo4j Knowledge Graph &amp; Conflict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Drug relationships and medication conflict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3361741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6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FastAPI, PostgreSQL &amp; Docker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Integrated backend, persistent database and containerized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513394"/>
                  </a:ext>
                </a:extLst>
              </a:tr>
              <a:tr h="4260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Phase 7</a:t>
                      </a:r>
                      <a:endParaRPr lang="en-IN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Testing, Validation &amp; Final Demonstration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Validated working prototype and final project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3654068"/>
                  </a:ext>
                </a:extLst>
              </a:tr>
            </a:tbl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F40844-044F-5AF0-21A8-6E98A7B0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1776-9110-4E1A-B222-03B38CB053C9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7CB612-92CB-DC63-4396-6873D722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A6103-5321-64DA-ABC2-1EE78554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32A5D-F551-3DB1-B504-D5D671B3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Architecture/Project Overview: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F0F6D0-3969-AAA2-79AD-C2E81381A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375" y="1548486"/>
            <a:ext cx="7416584" cy="49443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38234-AC94-EC4A-BFC0-D1C1E4ED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A6F7C-09B0-45B0-B30C-33E9AAF8B638}" type="datetime3">
              <a:rPr lang="en-US" smtClean="0"/>
              <a:t>16 September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AF87C-FE38-9ED5-C7A9-66905030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SOA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3496C-5979-C941-29B3-5E402D7C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1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1240</Words>
  <Application>Microsoft Office PowerPoint</Application>
  <PresentationFormat>Widescreen</PresentationFormat>
  <Paragraphs>189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Novelty</vt:lpstr>
      <vt:lpstr>Tech Stack </vt:lpstr>
      <vt:lpstr>PowerPoint Presentation</vt:lpstr>
      <vt:lpstr>Feasibility</vt:lpstr>
      <vt:lpstr>PowerPoint Presentation</vt:lpstr>
      <vt:lpstr>Project Architecture/Project Overview: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</dc:creator>
  <cp:lastModifiedBy>Akshay Saladi</cp:lastModifiedBy>
  <cp:revision>32</cp:revision>
  <dcterms:created xsi:type="dcterms:W3CDTF">2026-08-08T06:33:56Z</dcterms:created>
  <dcterms:modified xsi:type="dcterms:W3CDTF">2026-09-16T17:59:13Z</dcterms:modified>
</cp:coreProperties>
</file>