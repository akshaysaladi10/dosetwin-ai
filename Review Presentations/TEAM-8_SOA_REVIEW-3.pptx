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5"/>
  </p:notesMasterIdLst>
  <p:sldIdLst>
    <p:sldId id="262" r:id="rId3"/>
    <p:sldId id="707" r:id="rId4"/>
    <p:sldId id="257" r:id="rId5"/>
    <p:sldId id="903" r:id="rId6"/>
    <p:sldId id="902" r:id="rId7"/>
    <p:sldId id="258" r:id="rId8"/>
    <p:sldId id="904" r:id="rId9"/>
    <p:sldId id="905" r:id="rId10"/>
    <p:sldId id="259" r:id="rId11"/>
    <p:sldId id="906" r:id="rId12"/>
    <p:sldId id="260" r:id="rId13"/>
    <p:sldId id="90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B03022-1F30-4885-B78F-22C04F8A973E}" type="doc">
      <dgm:prSet loTypeId="urn:microsoft.com/office/officeart/2005/8/layout/venn3" loCatId="relationship" qsTypeId="urn:microsoft.com/office/officeart/2005/8/quickstyle/3d7#1" qsCatId="3D" csTypeId="urn:microsoft.com/office/officeart/2005/8/colors/colorful1#1" csCatId="colorful" phldr="1"/>
      <dgm:spPr/>
      <dgm:t>
        <a:bodyPr/>
        <a:lstStyle/>
        <a:p>
          <a:endParaRPr lang="en-IN"/>
        </a:p>
      </dgm:t>
    </dgm:pt>
    <dgm:pt modelId="{4094C340-BA43-4FE7-BEDC-37D235AAAD16}" type="pres">
      <dgm:prSet presAssocID="{84B03022-1F30-4885-B78F-22C04F8A973E}" presName="Name0" presStyleCnt="0">
        <dgm:presLayoutVars>
          <dgm:dir/>
          <dgm:resizeHandles val="exact"/>
        </dgm:presLayoutVars>
      </dgm:prSet>
      <dgm:spPr/>
    </dgm:pt>
  </dgm:ptLst>
  <dgm:cxnLst>
    <dgm:cxn modelId="{536B444D-E965-4C7A-901B-8D59695FE972}" type="presOf" srcId="{84B03022-1F30-4885-B78F-22C04F8A973E}" destId="{4094C340-BA43-4FE7-BEDC-37D235AAAD16}" srcOrd="0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7#1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666E0-C270-4F2D-A5DC-96BE795B540E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9044B-B5AF-477C-950C-4ED5126343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4AE20-9EAE-4BB7-93AC-7EFA05BCA1CF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7473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162C7A-CC9D-4035-A213-68F795EB7A2A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7703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2BE77-A6B4-BF9A-F59F-6A1C17E6D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4D497-63DE-C270-40A4-331A37D0B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C3A-1739-D230-186B-84454F60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74AE2-3321-425F-AEBF-BA55017BEAAF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3778-C058-1235-D3A3-7BCFF3CD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A1708-DD63-B8A6-CDE5-A057B2CF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9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0280-1254-E679-102E-D8CC13C8C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84D78-2E62-1C74-D557-5115FDC2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02B77-F303-2F09-80CB-35B74D2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1A2DC-FA7A-4049-8559-DAEFA0F9134D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359BF-B012-085F-389A-331E721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0460-9CE8-D43D-79E7-A7A9144A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D46-3DEF-526E-5F46-4ADACBEC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A517A-D5B3-3AF2-38BE-1D8998813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02125-0289-3272-156D-A3C31E848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B95C2-6C7D-4544-B3C5-DC0920DADB46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971A6-CC5A-CC09-A1F2-E284284E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98D5-FC90-9DA1-FE2F-D07DEDDA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9433-0D52-95EF-D78E-4FC912D4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A2DAE-6EF3-6910-5373-1A5DF4090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1AE70-38B9-B797-DE71-57CAE4C82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5E50E-F402-07A4-460F-3431CA9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EDBA2-04BF-434F-BBE8-224A7A8E3D5F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D7A32-7B4B-0167-CBD3-4FB4F42F7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B928D-DF00-B9C5-1A36-1E52C14C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FE06-EEED-5CC3-A38A-576DD2C8A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0BA8C-9EDE-BB49-BD35-49BAFCB8D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D39-7D2C-4493-F56F-81F6BC3F9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469B-6213-D34D-07A9-FCDC82AC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440F3-3F2D-85CC-D2E2-6D0D54B8A2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346DE1-9818-60AF-EAF8-FFED39BA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8EE073-134D-4E8D-AE2B-CF7BBE6EBF62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5E9E00-6460-F360-EDFD-B03FBA2C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FFDD7-5BFE-EA3B-6250-A381A569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E0FC-511C-2C2C-E510-CDDF2634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96671-3C71-777F-3A4D-A89D7E5D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31E4F-5CE6-4BAA-A58A-B401A72066D0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024A6A-95A8-2753-339B-FC09D4CA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E07AF-B1A0-E180-D5AC-3F2F0031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66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27A8-9BA5-6E6B-9B96-E6F6FADC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65383-C4B5-46B1-9DA8-005CCE5ABF80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AB8C98-6C07-7CF9-228C-EF7E6514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7070-DD15-038E-31F6-EF9EAD92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2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8049-15BD-A06B-510D-51342C765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7F51D-EFF8-F91B-8F7D-613493BF8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686E-4EC3-3B25-F2B1-DEF00AA47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4C9A3-A390-80A1-50AD-21AB6B25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40F3F0-AE40-4269-8D4F-01CC3386237A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FB16C-3A67-2F8D-2205-B1FF3BE2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137A69-0E62-6668-A184-42A6DBF6B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B01-3CD4-CFD9-5A71-411262FAA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CEFF8-AB3F-42A6-ADAF-1080336CC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14F7C-5D5A-7C5D-50F2-B5067E1E6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767C3-2493-217A-8E1D-03F6BBB4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93059-9A80-4351-A9F9-D3CFEC3D4190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FEBF7-64BD-7F85-1240-C02E3705B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4DB1-56E3-B1C9-BED9-904A25C2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9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BCD61-B1C9-A34D-6022-ADB9D4B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4F7E8-10E7-E6C8-474D-2A06ED501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7D405-5D32-C40F-1430-5F5A97DD4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F594B-BCE5-4EEC-97A6-1A30791DA17B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9955A-6D2E-8ABB-AF09-EC9590F01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1B21-A5D1-C625-FE7B-A0232576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86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99036-2042-AC93-5117-4059611F3C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DD23D-712F-710C-F8D8-B4B2B3E05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95516-E45F-6DA1-08EA-04E781DF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65030-591B-4511-BECB-F8DF036CAA9F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71DB9-D5C7-9EFA-0532-06B0BAAF4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35D92-5A89-BE34-CC33-93F56B3E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78DB-825A-4EA3-B188-A704F3692C99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60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F9D18-C792-474A-B6F4-3177025BFFE0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82983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451B6-86EE-469D-B722-295ECDFFE801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23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536CE-A75E-4DA0-9E53-2FEBAC06D23A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9083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4310F-1027-4AE7-A75C-41F0F9FCC1DD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485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8DCA1-AA6B-44FA-B045-C61ED77F86FF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8849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10B51-D227-4412-8F1A-82530FADDC4B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886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FF9A5-38F4-463C-AD32-D66FACBF22BA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74917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68CFA-9E3F-4EC8-BC99-9E15266431E8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63319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F2140-64E3-4ED1-8EB2-E0D5A16EFA70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584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C6C4-8E12-4405-B60A-EC687C5FC919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4595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11898-360B-AD49-DD62-FA3B7B662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2BE89-A274-4461-2B81-505874463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2A70-C1DC-D783-67E1-97822E79A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8C995-9F28-4457-AF53-28AEEA69B19F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5D01A-229C-E067-7B4E-BC254D654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SOA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41767-E51C-1DAB-E3C8-F047E87A8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63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AAF4F-4ADC-4A20-A721-D3BF9700C305}" type="datetime3">
              <a:rPr lang="en-US" smtClean="0"/>
              <a:t>17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SOA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376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hyperlink" Target="https://svgsilh.com/03a9f4/image/98809.html" TargetMode="External"/><Relationship Id="rId7" Type="http://schemas.openxmlformats.org/officeDocument/2006/relationships/diagramColors" Target="../diagrams/colors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00C0830-A1CA-96AE-68D2-18C57ABE4802}"/>
              </a:ext>
            </a:extLst>
          </p:cNvPr>
          <p:cNvSpPr txBox="1"/>
          <p:nvPr/>
        </p:nvSpPr>
        <p:spPr>
          <a:xfrm>
            <a:off x="2995612" y="2868213"/>
            <a:ext cx="6200774" cy="492443"/>
          </a:xfrm>
          <a:prstGeom prst="rect">
            <a:avLst/>
          </a:prstGeom>
          <a:noFill/>
          <a:effectLst>
            <a:glow rad="1397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Thursday, August 20</a:t>
            </a:r>
            <a:r>
              <a:rPr lang="en-IN" sz="2000" b="1" baseline="30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IN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2026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D22BC4D-4857-7D81-7819-37B7BB426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5720785"/>
              </p:ext>
            </p:extLst>
          </p:nvPr>
        </p:nvGraphicFramePr>
        <p:xfrm>
          <a:off x="8193271" y="4898509"/>
          <a:ext cx="370205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02050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</a:tblGrid>
              <a:tr h="7523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Members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6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P Ruthvik</a:t>
                      </a:r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2420030546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600" b="1" kern="1200" dirty="0" err="1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S.Akshay</a:t>
                      </a:r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2420030579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600" b="1" kern="1200" dirty="0" err="1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P.Nitish</a:t>
                      </a:r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2420030642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B5A8CA37-C090-A9D8-75D0-A7A7D5DEBE24}"/>
              </a:ext>
            </a:extLst>
          </p:cNvPr>
          <p:cNvGrpSpPr/>
          <p:nvPr/>
        </p:nvGrpSpPr>
        <p:grpSpPr>
          <a:xfrm>
            <a:off x="8038280" y="4765558"/>
            <a:ext cx="230240" cy="232995"/>
            <a:chOff x="1567861" y="1613059"/>
            <a:chExt cx="230240" cy="232995"/>
          </a:xfrm>
          <a:solidFill>
            <a:srgbClr val="FF66FF"/>
          </a:solidFill>
        </p:grpSpPr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48399A6-AAB5-B502-9670-34E0FCDF5541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67E59050-351C-0873-0298-AB77EA522C22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091FADF-77DB-CB1D-CD72-56C53CF76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838424"/>
              </p:ext>
            </p:extLst>
          </p:nvPr>
        </p:nvGraphicFramePr>
        <p:xfrm>
          <a:off x="-795813" y="4774125"/>
          <a:ext cx="5902325" cy="1366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3565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  <a:gridCol w="4528760">
                  <a:extLst>
                    <a:ext uri="{9D8B030D-6E8A-4147-A177-3AD203B41FA5}">
                      <a16:colId xmlns:a16="http://schemas.microsoft.com/office/drawing/2014/main" val="1330242319"/>
                    </a:ext>
                  </a:extLst>
                </a:gridCol>
              </a:tblGrid>
              <a:tr h="1332118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IN" sz="5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 the Guidance of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Dr. Srikanth </a:t>
                      </a:r>
                      <a:r>
                        <a:rPr lang="en-US" sz="1400" b="1" dirty="0" err="1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Cherukuvada</a:t>
                      </a:r>
                      <a:endParaRPr lang="en-US" sz="1400" b="1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Cambria"/>
                      </a:endParaRP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Assistant Professor, 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Department of </a:t>
                      </a:r>
                      <a:r>
                        <a:rPr lang="en-US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Computer Science and Engineering, 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KLH CSE Bowrampet Campus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A67E7A6-1F33-FBD3-09B8-F35F17C8F890}"/>
              </a:ext>
            </a:extLst>
          </p:cNvPr>
          <p:cNvGrpSpPr/>
          <p:nvPr/>
        </p:nvGrpSpPr>
        <p:grpSpPr>
          <a:xfrm>
            <a:off x="442519" y="4562547"/>
            <a:ext cx="230240" cy="232995"/>
            <a:chOff x="1567861" y="1613059"/>
            <a:chExt cx="230240" cy="232995"/>
          </a:xfrm>
          <a:solidFill>
            <a:srgbClr val="00B0F0"/>
          </a:solidFill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E269535-B3A3-75F2-310C-D43D8AC3F905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FA8E9237-F9D3-FB94-D6EB-94D77AEFD506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C1554CCE-4DF8-89E6-E0F6-3C2A1439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9F488-101B-49B7-BB64-5E3E5678EA65}" type="datetime3">
              <a:rPr lang="en-US" b="1" smtClean="0"/>
              <a:t>17 September 2026</a:t>
            </a:fld>
            <a:endParaRPr lang="en-IN" b="1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8FB49AA0-2464-6225-6B6C-063F9A6E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b="1" dirty="0"/>
              <a:t>SOA Project Review-1</a:t>
            </a:r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28F834F9-83AA-E3F9-773A-4B7A83B3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E5F681-D3B5-BC4B-8AA4-5688DCEEFB44}"/>
              </a:ext>
            </a:extLst>
          </p:cNvPr>
          <p:cNvSpPr/>
          <p:nvPr/>
        </p:nvSpPr>
        <p:spPr>
          <a:xfrm>
            <a:off x="638175" y="769267"/>
            <a:ext cx="10915650" cy="985640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82FAE-AFAF-27B2-2591-CFAF7695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D4CF64F-3FB6-0CE4-B778-63C5D5A1D343}"/>
              </a:ext>
            </a:extLst>
          </p:cNvPr>
          <p:cNvSpPr txBox="1"/>
          <p:nvPr/>
        </p:nvSpPr>
        <p:spPr>
          <a:xfrm>
            <a:off x="615636" y="865872"/>
            <a:ext cx="103305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DOSETWIN AI: A DIGITAL TWIN FRAMEWORK FOR PERSONALIZED DRUG RESPONSE SIMULATION AND MEDICATION CONFLICT PREVENTION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Poppins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5BC1A0-FDE4-1557-375E-6E0BD69BC77B}"/>
              </a:ext>
            </a:extLst>
          </p:cNvPr>
          <p:cNvSpPr txBox="1"/>
          <p:nvPr/>
        </p:nvSpPr>
        <p:spPr>
          <a:xfrm>
            <a:off x="738187" y="2246806"/>
            <a:ext cx="107156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SOA Project Review-3</a:t>
            </a:r>
          </a:p>
        </p:txBody>
      </p:sp>
    </p:spTree>
    <p:extLst>
      <p:ext uri="{BB962C8B-B14F-4D97-AF65-F5344CB8AC3E}">
        <p14:creationId xmlns:p14="http://schemas.microsoft.com/office/powerpoint/2010/main" val="2247602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FAE64B-DFA9-4528-D74E-DAEA88C00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65FBF3-0815-4ACF-B8FA-9D212187C67D}" type="datetime3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17 September 2026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22DE7-17C6-1B7E-71C0-2347B0AA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SOA Project Review-1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0A00F-144B-157D-A12F-7CF90703C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7C6D7-F4DC-4908-B610-D10EE43A9B41}"/>
              </a:ext>
            </a:extLst>
          </p:cNvPr>
          <p:cNvSpPr txBox="1"/>
          <p:nvPr/>
        </p:nvSpPr>
        <p:spPr>
          <a:xfrm>
            <a:off x="3020906" y="173546"/>
            <a:ext cx="5854242" cy="646331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1" i="0" u="none" strike="noStrike" kern="1200" cap="none" spc="0" normalizeH="0" baseline="0" noProof="0" dirty="0">
                <a:ln w="0"/>
                <a:solidFill>
                  <a:srgbClr val="4472C4"/>
                </a:solidFill>
                <a:effectLst/>
                <a:uLnTx/>
                <a:uFillTx/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Outline of Research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25CDE63-8DDC-4AC4-7713-9D89D6D0F4B1}"/>
              </a:ext>
            </a:extLst>
          </p:cNvPr>
          <p:cNvGrpSpPr/>
          <p:nvPr/>
        </p:nvGrpSpPr>
        <p:grpSpPr>
          <a:xfrm>
            <a:off x="2001361" y="1377996"/>
            <a:ext cx="6784432" cy="4438977"/>
            <a:chOff x="1929643" y="1656655"/>
            <a:chExt cx="6784432" cy="443897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A4CA55-824E-91B2-D5F9-032778D4B8B3}"/>
                </a:ext>
              </a:extLst>
            </p:cNvPr>
            <p:cNvSpPr txBox="1"/>
            <p:nvPr/>
          </p:nvSpPr>
          <p:spPr>
            <a:xfrm>
              <a:off x="2675533" y="3257433"/>
              <a:ext cx="4267376" cy="96032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Challenges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E7E17B2-5AF8-C463-91C3-5B87FC773369}"/>
                </a:ext>
              </a:extLst>
            </p:cNvPr>
            <p:cNvSpPr txBox="1"/>
            <p:nvPr/>
          </p:nvSpPr>
          <p:spPr>
            <a:xfrm>
              <a:off x="2922896" y="3753448"/>
              <a:ext cx="4374693" cy="87357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Research Objectives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D160BA9-A291-1BA5-C03E-7218C2169C28}"/>
                </a:ext>
              </a:extLst>
            </p:cNvPr>
            <p:cNvSpPr txBox="1"/>
            <p:nvPr/>
          </p:nvSpPr>
          <p:spPr>
            <a:xfrm>
              <a:off x="3139925" y="4332926"/>
              <a:ext cx="4529560" cy="93769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Conclusion &amp; Future Work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C792DA3-F484-948A-E346-F158FE24CE3F}"/>
                </a:ext>
              </a:extLst>
            </p:cNvPr>
            <p:cNvSpPr txBox="1"/>
            <p:nvPr/>
          </p:nvSpPr>
          <p:spPr>
            <a:xfrm>
              <a:off x="3426151" y="4880317"/>
              <a:ext cx="4774676" cy="91973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References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</a:b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57E2443-43F4-3FA3-6C83-796D6B456220}"/>
                </a:ext>
              </a:extLst>
            </p:cNvPr>
            <p:cNvSpPr txBox="1"/>
            <p:nvPr/>
          </p:nvSpPr>
          <p:spPr>
            <a:xfrm>
              <a:off x="3822549" y="5483028"/>
              <a:ext cx="4891526" cy="61260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Publications Details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FEE87FCF-6A51-9005-163C-5E3B5C1257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8229530" y="5002476"/>
              <a:ext cx="455841" cy="536286"/>
            </a:xfrm>
            <a:prstGeom prst="rect">
              <a:avLst/>
            </a:prstGeom>
          </p:spPr>
        </p:pic>
        <p:sp>
          <p:nvSpPr>
            <p:cNvPr id="28" name="Content Placeholder 11">
              <a:extLst>
                <a:ext uri="{FF2B5EF4-FFF2-40B4-BE49-F238E27FC236}">
                  <a16:creationId xmlns:a16="http://schemas.microsoft.com/office/drawing/2014/main" id="{F1211E34-5F1E-9B5C-4C59-2549F412DCD1}"/>
                </a:ext>
              </a:extLst>
            </p:cNvPr>
            <p:cNvSpPr txBox="1">
              <a:spLocks/>
            </p:cNvSpPr>
            <p:nvPr/>
          </p:nvSpPr>
          <p:spPr>
            <a:xfrm>
              <a:off x="1929643" y="1656655"/>
              <a:ext cx="3548330" cy="7489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 cap="flat" cmpd="sng" algn="ctr">
              <a:solidFill>
                <a:schemeClr val="accent4"/>
              </a:solidFill>
              <a:prstDash val="solid"/>
              <a:miter lim="800000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Focus</a:t>
              </a: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I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sp>
          <p:nvSpPr>
            <p:cNvPr id="31" name="Content Placeholder 11">
              <a:extLst>
                <a:ext uri="{FF2B5EF4-FFF2-40B4-BE49-F238E27FC236}">
                  <a16:creationId xmlns:a16="http://schemas.microsoft.com/office/drawing/2014/main" id="{4D713724-2EA7-CA04-47B9-F63B3DAC496D}"/>
                </a:ext>
              </a:extLst>
            </p:cNvPr>
            <p:cNvSpPr txBox="1">
              <a:spLocks/>
            </p:cNvSpPr>
            <p:nvPr/>
          </p:nvSpPr>
          <p:spPr>
            <a:xfrm>
              <a:off x="2209801" y="2217836"/>
              <a:ext cx="3886200" cy="66622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 cap="flat" cmpd="sng" algn="ctr">
              <a:solidFill>
                <a:schemeClr val="accent4"/>
              </a:solidFill>
              <a:prstDash val="solid"/>
              <a:miter lim="800000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Introduction</a:t>
              </a: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I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55B3B570-3194-94D5-869B-2F3E3E133B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7683523" y="4358877"/>
              <a:ext cx="455841" cy="536286"/>
            </a:xfrm>
            <a:prstGeom prst="rect">
              <a:avLst/>
            </a:prstGeom>
          </p:spPr>
        </p:pic>
        <p:pic>
          <p:nvPicPr>
            <p:cNvPr id="37" name="Graphic 36">
              <a:extLst>
                <a:ext uri="{FF2B5EF4-FFF2-40B4-BE49-F238E27FC236}">
                  <a16:creationId xmlns:a16="http://schemas.microsoft.com/office/drawing/2014/main" id="{A01B3509-5090-7764-12FF-0CDB13E360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7229942" y="3813495"/>
              <a:ext cx="455841" cy="536286"/>
            </a:xfrm>
            <a:prstGeom prst="rect">
              <a:avLst/>
            </a:prstGeom>
          </p:spPr>
        </p:pic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4A5FDD7E-5A46-92A5-C963-19E091BBF7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863353" y="3200501"/>
              <a:ext cx="455841" cy="536286"/>
            </a:xfrm>
            <a:prstGeom prst="rect">
              <a:avLst/>
            </a:prstGeom>
          </p:spPr>
        </p:pic>
        <p:pic>
          <p:nvPicPr>
            <p:cNvPr id="39" name="Graphic 38">
              <a:extLst>
                <a:ext uri="{FF2B5EF4-FFF2-40B4-BE49-F238E27FC236}">
                  <a16:creationId xmlns:a16="http://schemas.microsoft.com/office/drawing/2014/main" id="{C50C5009-E2F0-E358-4C45-CAEADDEC93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443196" y="2766955"/>
              <a:ext cx="455841" cy="536286"/>
            </a:xfrm>
            <a:prstGeom prst="rect">
              <a:avLst/>
            </a:prstGeom>
          </p:spPr>
        </p:pic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F1D91F2F-C2FB-3146-467B-21A20C8410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040392" y="2252522"/>
              <a:ext cx="455841" cy="536286"/>
            </a:xfrm>
            <a:prstGeom prst="rect">
              <a:avLst/>
            </a:prstGeom>
          </p:spPr>
        </p:pic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7B0FD951-BFA0-1228-E572-2BFE866AEE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5626122" y="1721293"/>
              <a:ext cx="455841" cy="536286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6F380C-3238-E430-3C22-3C23884CE532}"/>
                </a:ext>
              </a:extLst>
            </p:cNvPr>
            <p:cNvSpPr txBox="1"/>
            <p:nvPr/>
          </p:nvSpPr>
          <p:spPr>
            <a:xfrm>
              <a:off x="2490411" y="2773626"/>
              <a:ext cx="4004225" cy="50687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4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Literature Survey</a:t>
              </a:r>
              <a:endParaRPr kumimoji="0" lang="en-US" sz="204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</p:grpSp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C044B753-17EC-8A45-927F-C44CC40ED5BA}"/>
              </a:ext>
            </a:extLst>
          </p:cNvPr>
          <p:cNvGraphicFramePr/>
          <p:nvPr/>
        </p:nvGraphicFramePr>
        <p:xfrm>
          <a:off x="41510" y="115414"/>
          <a:ext cx="1474694" cy="9423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0B4D1914-919F-D842-1FC2-1BBFC0E95C2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9380" y="0"/>
            <a:ext cx="1901110" cy="62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6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C8F81-5402-FBBE-D32A-834F3C603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BD4C9C-9DEB-26F4-AA75-F51C06DD64DC}"/>
              </a:ext>
            </a:extLst>
          </p:cNvPr>
          <p:cNvSpPr txBox="1"/>
          <p:nvPr/>
        </p:nvSpPr>
        <p:spPr>
          <a:xfrm>
            <a:off x="3991897" y="482232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Problem Statement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A614DC-364B-1BD9-B452-BC2E55FD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26D60C-0C01-9639-86A0-A2F2698E9349}"/>
              </a:ext>
            </a:extLst>
          </p:cNvPr>
          <p:cNvSpPr txBox="1"/>
          <p:nvPr/>
        </p:nvSpPr>
        <p:spPr>
          <a:xfrm>
            <a:off x="850392" y="1591056"/>
            <a:ext cx="105156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Conventional medication decision-making often relies on </a:t>
            </a:r>
            <a:r>
              <a:rPr lang="en-IN" b="1" dirty="0"/>
              <a:t>generalized patient information</a:t>
            </a:r>
            <a:r>
              <a:rPr lang="en-IN" dirty="0"/>
              <a:t> and </a:t>
            </a:r>
            <a:r>
              <a:rPr lang="en-IN" b="1" dirty="0"/>
              <a:t>predefined drug-interaction databases</a:t>
            </a:r>
            <a:r>
              <a:rPr lang="en-IN" dirty="0"/>
              <a:t>, which may not fully capture an individual's unique clinical characteristics. Variations in </a:t>
            </a:r>
            <a:r>
              <a:rPr lang="en-IN" b="1" dirty="0"/>
              <a:t>medical history, existing medications, laboratory results, vital signs, demographic information, and clinical conditions</a:t>
            </a:r>
            <a:r>
              <a:rPr lang="en-IN" dirty="0"/>
              <a:t> can influence drug response and medication-related risks. Existing approaches also have limited capability to represent the patient's </a:t>
            </a:r>
            <a:r>
              <a:rPr lang="en-IN" b="1" dirty="0"/>
              <a:t>dynamic clinical state</a:t>
            </a:r>
            <a:r>
              <a:rPr lang="en-IN" dirty="0"/>
              <a:t> and simulate potential medication responses before treatment decisions. Therefore, </a:t>
            </a:r>
            <a:r>
              <a:rPr lang="en-IN" b="1" dirty="0" err="1"/>
              <a:t>DoseTwin</a:t>
            </a:r>
            <a:r>
              <a:rPr lang="en-IN" b="1" dirty="0"/>
              <a:t> AI</a:t>
            </a:r>
            <a:r>
              <a:rPr lang="en-IN" dirty="0"/>
              <a:t> proposes an </a:t>
            </a:r>
            <a:r>
              <a:rPr lang="en-IN" b="1" dirty="0"/>
              <a:t>intelligent, patient-specific framework</a:t>
            </a:r>
            <a:r>
              <a:rPr lang="en-IN" dirty="0"/>
              <a:t> integrating </a:t>
            </a:r>
            <a:r>
              <a:rPr lang="en-IN" b="1" dirty="0"/>
              <a:t>Digital Twins, HL7 FHIR, TensorFlow, Knowledge Graphs, </a:t>
            </a:r>
            <a:r>
              <a:rPr lang="en-IN" b="1" dirty="0" err="1"/>
              <a:t>FastAPI</a:t>
            </a:r>
            <a:r>
              <a:rPr lang="en-IN" b="1" dirty="0"/>
              <a:t>, PostgreSQL, and Docker</a:t>
            </a:r>
            <a:r>
              <a:rPr lang="en-IN" dirty="0"/>
              <a:t> to enable </a:t>
            </a:r>
            <a:r>
              <a:rPr lang="en-IN" b="1" dirty="0"/>
              <a:t>personalized drug-response simulation</a:t>
            </a:r>
            <a:r>
              <a:rPr lang="en-IN" dirty="0"/>
              <a:t> and </a:t>
            </a:r>
            <a:r>
              <a:rPr lang="en-IN" b="1" dirty="0"/>
              <a:t>medication conflict prevention</a:t>
            </a:r>
            <a:r>
              <a:rPr lang="en-IN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3F740-D339-3558-B145-8E1E86916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24C8F-9F67-4F05-A4FF-B20AEBCB954C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427B9-146B-6F98-29AE-C4FAF3823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7C61D1-4D00-A0D7-2575-146A0870C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937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AF34-8CFC-8161-A3CD-DED259C92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F508849-A0DD-12D4-FD0D-5322CA138B2F}"/>
              </a:ext>
            </a:extLst>
          </p:cNvPr>
          <p:cNvSpPr txBox="1"/>
          <p:nvPr/>
        </p:nvSpPr>
        <p:spPr>
          <a:xfrm>
            <a:off x="3048000" y="4691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Objectives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C6E66-DFCA-CBBA-3972-F62C5800A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D56164-9DBB-BEE2-9120-BE07B8CC6890}"/>
              </a:ext>
            </a:extLst>
          </p:cNvPr>
          <p:cNvSpPr txBox="1"/>
          <p:nvPr/>
        </p:nvSpPr>
        <p:spPr>
          <a:xfrm>
            <a:off x="868680" y="1508760"/>
            <a:ext cx="104333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To develop a </a:t>
            </a:r>
            <a:r>
              <a:rPr lang="en-IN" b="1" dirty="0"/>
              <a:t>Digital Twin of the patient</a:t>
            </a:r>
            <a:r>
              <a:rPr lang="en-IN" dirty="0"/>
              <a:t> that represents dynamic clinical information such as </a:t>
            </a:r>
            <a:r>
              <a:rPr lang="en-IN" b="1" dirty="0"/>
              <a:t>medical history, medications, vital signs, and laboratory parameters</a:t>
            </a:r>
            <a:r>
              <a:rPr lang="en-IN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To integrate </a:t>
            </a:r>
            <a:r>
              <a:rPr lang="en-IN" b="1" dirty="0"/>
              <a:t>HL7 FHIR</a:t>
            </a:r>
            <a:r>
              <a:rPr lang="en-IN" dirty="0"/>
              <a:t> for </a:t>
            </a:r>
            <a:r>
              <a:rPr lang="en-IN" b="1" dirty="0"/>
              <a:t>standardized and interoperable healthcare data representation and exchange</a:t>
            </a:r>
            <a:r>
              <a:rPr lang="en-IN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To implement </a:t>
            </a:r>
            <a:r>
              <a:rPr lang="en-IN" b="1" dirty="0"/>
              <a:t>TensorFlow-based drug-response prediction</a:t>
            </a:r>
            <a:r>
              <a:rPr lang="en-IN" dirty="0"/>
              <a:t> for </a:t>
            </a:r>
            <a:r>
              <a:rPr lang="en-IN" dirty="0" err="1"/>
              <a:t>analyzing</a:t>
            </a:r>
            <a:r>
              <a:rPr lang="en-IN" dirty="0"/>
              <a:t> potential personalized responses to selected medications.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To develop a </a:t>
            </a:r>
            <a:r>
              <a:rPr lang="en-IN" b="1" dirty="0"/>
              <a:t>Knowledge Graph using Neo4j</a:t>
            </a:r>
            <a:r>
              <a:rPr lang="en-IN" dirty="0"/>
              <a:t> to represent relationships between </a:t>
            </a:r>
            <a:r>
              <a:rPr lang="en-IN" b="1" dirty="0"/>
              <a:t>drugs, diseases, medications, and potential interactions</a:t>
            </a:r>
            <a:r>
              <a:rPr lang="en-IN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To detect </a:t>
            </a:r>
            <a:r>
              <a:rPr lang="en-IN" b="1" dirty="0"/>
              <a:t>potential medication conflicts</a:t>
            </a:r>
            <a:r>
              <a:rPr lang="en-IN" dirty="0"/>
              <a:t> and generate </a:t>
            </a:r>
            <a:r>
              <a:rPr lang="en-IN" b="1" dirty="0"/>
              <a:t>risk levels, explanations, and supporting recommendations</a:t>
            </a:r>
            <a:r>
              <a:rPr lang="en-IN" dirty="0"/>
              <a:t> based on patient-specific information.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To integrate </a:t>
            </a:r>
            <a:r>
              <a:rPr lang="en-IN" b="1" dirty="0" err="1"/>
              <a:t>FastAPI</a:t>
            </a:r>
            <a:r>
              <a:rPr lang="en-IN" b="1" dirty="0"/>
              <a:t>, PostgreSQL, and Docker</a:t>
            </a:r>
            <a:r>
              <a:rPr lang="en-IN" dirty="0"/>
              <a:t> to provide a </a:t>
            </a:r>
            <a:r>
              <a:rPr lang="en-IN" b="1" dirty="0"/>
              <a:t>scalable, persistent, and containerized healthcare analysis framework</a:t>
            </a:r>
            <a:r>
              <a:rPr lang="en-IN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3AD77D-0BC9-1B0E-CD21-011A86EA0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9C3F4-E892-4B94-BBB7-5EF69E3A8556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353341-77F3-6822-6F5F-EF08A8CC3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57EF2B-43BA-5434-320B-C20649F0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78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ACD11AD-3AF5-B626-2B60-0567E4585BB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57467022"/>
              </p:ext>
            </p:extLst>
          </p:nvPr>
        </p:nvGraphicFramePr>
        <p:xfrm>
          <a:off x="274646" y="909593"/>
          <a:ext cx="11642705" cy="50388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089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5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65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65714">
                  <a:extLst>
                    <a:ext uri="{9D8B030D-6E8A-4147-A177-3AD203B41FA5}">
                      <a16:colId xmlns:a16="http://schemas.microsoft.com/office/drawing/2014/main" val="1396003017"/>
                    </a:ext>
                  </a:extLst>
                </a:gridCol>
              </a:tblGrid>
              <a:tr h="387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Authors</a:t>
                      </a:r>
                      <a:endParaRPr lang="en-IN" sz="1600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Title of the Paper</a:t>
                      </a:r>
                      <a:endParaRPr lang="en-IN" sz="1600" dirty="0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Methodology</a:t>
                      </a:r>
                      <a:endParaRPr lang="en-IN" sz="1600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Inferences</a:t>
                      </a:r>
                      <a:endParaRPr lang="en-IN" sz="1600" dirty="0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Limitation / Future Work</a:t>
                      </a:r>
                      <a:endParaRPr lang="en-IN" sz="1600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1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Saratkar et al. [1]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i="1" dirty="0"/>
                        <a:t>Digital Twin for Personalized Medicine Development, Frontiers in Digital Health, 2025</a:t>
                      </a:r>
                      <a:endParaRPr lang="en-I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• Digital Twin models for patient-specific healthcare• Integration of AI, ML and patient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• Supports </a:t>
                      </a:r>
                      <a:r>
                        <a:rPr lang="en-IN" sz="1600" b="1"/>
                        <a:t>personalized treatment</a:t>
                      </a:r>
                      <a:r>
                        <a:rPr lang="en-IN" sz="1600"/>
                        <a:t> and predictive healthcare• Enables patient-specific simulation and treatment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• Data privacy and interoperability remain challenges• Requires further clinical validation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155954"/>
                  </a:ext>
                </a:extLst>
              </a:tr>
              <a:tr h="1354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Ludwig et al. [2]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i="1"/>
                        <a:t>Digital Patient Twins for Therapeutics and Pharmaceutical Manufacturing, Frontiers in Digital Health, 2023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• Digital Patient Twins using patient and population data• AI and data-driven modeling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• Supports </a:t>
                      </a:r>
                      <a:r>
                        <a:rPr lang="en-IN" sz="1600" b="1"/>
                        <a:t>personalized drug treatment</a:t>
                      </a:r>
                      <a:r>
                        <a:rPr lang="en-IN" sz="1600"/>
                        <a:t>• Highlights potential for predicting individual drug responses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• Reliable individual drug-response simulation remains limited• Regulatory and scalability challenges remain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5426370"/>
                  </a:ext>
                </a:extLst>
              </a:tr>
              <a:tr h="1354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Wollard et al. [3]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i="1"/>
                        <a:t>Digital Pharmacological Twins: Bridging Multi-Scale Modeling and Artificial Intelligence for Precision Medicine, Therapie, 2026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• Multi-scale pharmacological modelling• AI/ML with pharmacokinetic and pharmacodynamic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• Supports simulation of </a:t>
                      </a:r>
                      <a:r>
                        <a:rPr lang="en-IN" sz="1600" b="1"/>
                        <a:t>drug interactions and individual treatment responses</a:t>
                      </a:r>
                      <a:r>
                        <a:rPr lang="en-IN" sz="1600"/>
                        <a:t>• Can assist with dosing and adverse-drug-response prediction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• Requires strong data integration and model validation• Interoperability and clinical implementation require further research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157501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48F0022-391A-4CFC-2851-87E76B37EAC2}"/>
              </a:ext>
            </a:extLst>
          </p:cNvPr>
          <p:cNvSpPr txBox="1"/>
          <p:nvPr/>
        </p:nvSpPr>
        <p:spPr>
          <a:xfrm>
            <a:off x="4560565" y="136525"/>
            <a:ext cx="30708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64C8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Literature Survey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0FDE360-66C4-26CA-5DB9-8E99C2685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B8718-2467-4ED4-9D8D-E9091B0968F9}" type="datetime3">
              <a:rPr lang="en-US" smtClean="0"/>
              <a:t>17 September 2026</a:t>
            </a:fld>
            <a:endParaRPr lang="en-IN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F095753-622E-2BA7-9495-60F9B6E57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SOA Project Review-1</a:t>
            </a:r>
            <a:endParaRPr lang="en-IN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84944-5437-9E89-7017-F3DB9CA91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A418F-4DEE-4BB1-940B-1145D135750E}" type="slidenum">
              <a:rPr lang="en-IN" smtClean="0"/>
              <a:t>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3EBAEA-8DC6-8F54-F0D6-38F9643BD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277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F2FA-32F2-6715-843F-6ACC796D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00062CA-E93E-DFB0-5A22-1412AB9A6752}"/>
              </a:ext>
            </a:extLst>
          </p:cNvPr>
          <p:cNvSpPr txBox="1"/>
          <p:nvPr/>
        </p:nvSpPr>
        <p:spPr>
          <a:xfrm>
            <a:off x="2903621" y="31127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Research Gap Identification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77B92A-0C12-D39A-8847-98719E7B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955B0C-CBB3-D246-6164-0B73CB5A8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648074"/>
              </p:ext>
            </p:extLst>
          </p:nvPr>
        </p:nvGraphicFramePr>
        <p:xfrm>
          <a:off x="525539" y="957606"/>
          <a:ext cx="10852164" cy="5462059"/>
        </p:xfrm>
        <a:graphic>
          <a:graphicData uri="http://schemas.openxmlformats.org/drawingml/2006/table">
            <a:tbl>
              <a:tblPr/>
              <a:tblGrid>
                <a:gridCol w="3583264">
                  <a:extLst>
                    <a:ext uri="{9D8B030D-6E8A-4147-A177-3AD203B41FA5}">
                      <a16:colId xmlns:a16="http://schemas.microsoft.com/office/drawing/2014/main" val="4061101483"/>
                    </a:ext>
                  </a:extLst>
                </a:gridCol>
                <a:gridCol w="3634450">
                  <a:extLst>
                    <a:ext uri="{9D8B030D-6E8A-4147-A177-3AD203B41FA5}">
                      <a16:colId xmlns:a16="http://schemas.microsoft.com/office/drawing/2014/main" val="1499037303"/>
                    </a:ext>
                  </a:extLst>
                </a:gridCol>
                <a:gridCol w="3634450">
                  <a:extLst>
                    <a:ext uri="{9D8B030D-6E8A-4147-A177-3AD203B41FA5}">
                      <a16:colId xmlns:a16="http://schemas.microsoft.com/office/drawing/2014/main" val="1240095816"/>
                    </a:ext>
                  </a:extLst>
                </a:gridCol>
              </a:tblGrid>
              <a:tr h="2289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Existing Research / Approach</a:t>
                      </a:r>
                      <a:endParaRPr lang="en-IN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Research Gap Identified</a:t>
                      </a:r>
                      <a:endParaRPr lang="en-IN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Our Proposed Solution</a:t>
                      </a:r>
                      <a:endParaRPr lang="en-IN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47572"/>
                  </a:ext>
                </a:extLst>
              </a:tr>
              <a:tr h="17739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1. Digital Twins for Personalized Healthcare</a:t>
                      </a:r>
                      <a:r>
                        <a:rPr lang="en-IN" sz="1600"/>
                        <a:t> – Existing research uses Digital Twins to represent patients by integrating medical, physiological, and health data.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Reliable </a:t>
                      </a:r>
                      <a:r>
                        <a:rPr lang="en-IN" sz="1600" b="1"/>
                        <a:t>patient-specific drug-response simulation</a:t>
                      </a:r>
                      <a:r>
                        <a:rPr lang="en-IN" sz="1600"/>
                        <a:t> is still challenging, with many approaches focusing on limited diseases or physiological conditions.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DoseTwin AI Digital Twin</a:t>
                      </a:r>
                      <a:r>
                        <a:rPr lang="en-IN" sz="1600"/>
                        <a:t> – Creates a patient-specific virtual model combining </a:t>
                      </a:r>
                      <a:r>
                        <a:rPr lang="en-IN" sz="1600" b="1"/>
                        <a:t>medical history, medications, conditions, observations, and AI-based drug-response prediction</a:t>
                      </a:r>
                      <a:r>
                        <a:rPr lang="en-IN" sz="1600"/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8024174"/>
                  </a:ext>
                </a:extLst>
              </a:tr>
              <a:tr h="1430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2. AI-Based Drug Response &amp; Interaction Prediction</a:t>
                      </a:r>
                      <a:r>
                        <a:rPr lang="en-IN" sz="1600"/>
                        <a:t> – Machine Learning and pharmacological models are used to predict drug effects, adverse reactions, and drug–drug interactions.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Existing approaches often focus on </a:t>
                      </a:r>
                      <a:r>
                        <a:rPr lang="en-IN" sz="1600" b="1"/>
                        <a:t>individual prediction tasks</a:t>
                      </a:r>
                      <a:r>
                        <a:rPr lang="en-IN" sz="1600"/>
                        <a:t> rather than continuously combining patient characteristics, medication information, and drug relationships.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AI Drug Response &amp; Conflict Engine</a:t>
                      </a:r>
                      <a:r>
                        <a:rPr lang="en-IN" sz="1600"/>
                        <a:t> – Uses </a:t>
                      </a:r>
                      <a:r>
                        <a:rPr lang="en-IN" sz="1600" b="1"/>
                        <a:t>TensorFlow + Knowledge Graphs</a:t>
                      </a:r>
                      <a:r>
                        <a:rPr lang="en-IN" sz="1600"/>
                        <a:t> to analyze patient-specific factors, medicines, and relationships for drug-response and conflict analysis.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096993"/>
                  </a:ext>
                </a:extLst>
              </a:tr>
              <a:tr h="17739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3. FHIR-Based &amp; Knowledge-Graph Healthcare Systems</a:t>
                      </a:r>
                      <a:r>
                        <a:rPr lang="en-IN" sz="1600"/>
                        <a:t> – Existing systems use </a:t>
                      </a:r>
                      <a:r>
                        <a:rPr lang="en-IN" sz="1600" b="1"/>
                        <a:t>HL7 FHIR, Knowledge Graphs, and AI</a:t>
                      </a:r>
                      <a:r>
                        <a:rPr lang="en-IN" sz="1600"/>
                        <a:t> to improve healthcare interoperability and patient-centric analysis.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There is a need for an </a:t>
                      </a:r>
                      <a:r>
                        <a:rPr lang="en-IN" sz="1600" b="1"/>
                        <a:t>integrated and scalable architecture</a:t>
                      </a:r>
                      <a:r>
                        <a:rPr lang="en-IN" sz="1600"/>
                        <a:t> connecting standardized healthcare data, patient state, AI prediction, and medication safety analysis.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FHIR-Enabled Integrated Architecture</a:t>
                      </a:r>
                      <a:r>
                        <a:rPr lang="en-IN" sz="1600" dirty="0"/>
                        <a:t> – Combines </a:t>
                      </a:r>
                      <a:r>
                        <a:rPr lang="en-IN" sz="1600" b="1" dirty="0"/>
                        <a:t>HL7 FHIR + Digital Twin + TensorFlow + Knowledge Graph + </a:t>
                      </a:r>
                      <a:r>
                        <a:rPr lang="en-IN" sz="1600" b="1" dirty="0" err="1"/>
                        <a:t>FastAPI</a:t>
                      </a:r>
                      <a:r>
                        <a:rPr lang="en-IN" sz="1600" b="1" dirty="0"/>
                        <a:t> + PostgreSQL + Docker</a:t>
                      </a:r>
                      <a:r>
                        <a:rPr lang="en-IN" sz="1600" dirty="0"/>
                        <a:t> for personalized drug analysis and medication conflict prevention.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387076"/>
                  </a:ext>
                </a:extLst>
              </a:tr>
            </a:tbl>
          </a:graphicData>
        </a:graphic>
      </p:graphicFrame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347C12D-6482-0415-446D-5C68257ED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DE293-8B38-4C14-A784-0225C2F24D7D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C51AA38-4689-ED04-2202-21575FE02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3EC9531-63F0-ED87-FAAC-E40198BA2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876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75BE31A-4BAA-369F-83FA-FA056E8C05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677041"/>
            <a:ext cx="10515600" cy="70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Novelty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1446BF-E235-37E7-7084-7C798C65D9DB}"/>
              </a:ext>
            </a:extLst>
          </p:cNvPr>
          <p:cNvSpPr txBox="1"/>
          <p:nvPr/>
        </p:nvSpPr>
        <p:spPr>
          <a:xfrm>
            <a:off x="838200" y="1720840"/>
            <a:ext cx="100263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The novelty of </a:t>
            </a:r>
            <a:r>
              <a:rPr lang="en-IN" b="1" dirty="0" err="1"/>
              <a:t>DoseTwin</a:t>
            </a:r>
            <a:r>
              <a:rPr lang="en-IN" b="1" dirty="0"/>
              <a:t> AI</a:t>
            </a:r>
            <a:r>
              <a:rPr lang="en-IN" dirty="0"/>
              <a:t> lies in integrating multiple intelligent healthcare technologies into a </a:t>
            </a:r>
            <a:r>
              <a:rPr lang="en-IN" b="1" dirty="0"/>
              <a:t>single patient-specific framework</a:t>
            </a:r>
            <a:r>
              <a:rPr lang="en-IN" dirty="0"/>
              <a:t>:</a:t>
            </a:r>
          </a:p>
          <a:p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Digital Twin–based patient </a:t>
            </a:r>
            <a:r>
              <a:rPr lang="en-IN" b="1" dirty="0" err="1"/>
              <a:t>modeling</a:t>
            </a:r>
            <a:r>
              <a:rPr lang="en-IN" dirty="0"/>
              <a:t> for representing the patient’s changing clinical state.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TensorFlow-based personalized drug-response simulation</a:t>
            </a:r>
            <a:r>
              <a:rPr lang="en-IN" dirty="0"/>
              <a:t> instead of relying only on general drug information.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Neo4j Knowledge Graph</a:t>
            </a:r>
            <a:r>
              <a:rPr lang="en-IN" dirty="0"/>
              <a:t> to connect patients, drugs, conditions, observations, and medication interactions.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HL7 FHIR integration</a:t>
            </a:r>
            <a:r>
              <a:rPr lang="en-IN" dirty="0"/>
              <a:t> for standardized and interoperable healthcare data.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Combined risk analysis</a:t>
            </a:r>
            <a:r>
              <a:rPr lang="en-IN" dirty="0"/>
              <a:t> using patient information, predicted drug response, and medication-conflict relationships.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End-to-end containerized architecture</a:t>
            </a:r>
            <a:r>
              <a:rPr lang="en-IN" dirty="0"/>
              <a:t> using </a:t>
            </a:r>
            <a:r>
              <a:rPr lang="en-IN" b="1" dirty="0" err="1"/>
              <a:t>FastAPI</a:t>
            </a:r>
            <a:r>
              <a:rPr lang="en-IN" b="1" dirty="0"/>
              <a:t>, PostgreSQL, and Docker</a:t>
            </a:r>
            <a:r>
              <a:rPr lang="en-IN" dirty="0"/>
              <a:t> for scalable deployment.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2128B4C-7D1A-4D70-D4F5-1F0DCF2DC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87467-D487-4DB6-9E4F-A8857B2789A1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C0D224A-2080-EADA-2F61-9DBD51D50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756AD5D-5E8A-D392-0BDB-C81A4F673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234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A4BA1-2E94-2A56-D175-A3BFDBA1F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B263C-3D3A-53E1-2E02-2AE5FB7BF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 Stack </a:t>
            </a:r>
            <a:endParaRPr lang="en-IN" dirty="0"/>
          </a:p>
        </p:txBody>
      </p:sp>
      <p:graphicFrame>
        <p:nvGraphicFramePr>
          <p:cNvPr id="3" name="Content Placeholder 4">
            <a:extLst>
              <a:ext uri="{FF2B5EF4-FFF2-40B4-BE49-F238E27FC236}">
                <a16:creationId xmlns:a16="http://schemas.microsoft.com/office/drawing/2014/main" id="{0CD3A11F-A881-078B-4141-87B727A619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3775095"/>
              </p:ext>
            </p:extLst>
          </p:nvPr>
        </p:nvGraphicFramePr>
        <p:xfrm>
          <a:off x="1175900" y="1863408"/>
          <a:ext cx="9840200" cy="4129376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4920100">
                  <a:extLst>
                    <a:ext uri="{9D8B030D-6E8A-4147-A177-3AD203B41FA5}">
                      <a16:colId xmlns:a16="http://schemas.microsoft.com/office/drawing/2014/main" val="765011411"/>
                    </a:ext>
                  </a:extLst>
                </a:gridCol>
                <a:gridCol w="4920100">
                  <a:extLst>
                    <a:ext uri="{9D8B030D-6E8A-4147-A177-3AD203B41FA5}">
                      <a16:colId xmlns:a16="http://schemas.microsoft.com/office/drawing/2014/main" val="694063937"/>
                    </a:ext>
                  </a:extLst>
                </a:gridCol>
              </a:tblGrid>
              <a:tr h="4346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Layer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Technology Stack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4362807"/>
                  </a:ext>
                </a:extLst>
              </a:tr>
              <a:tr h="4346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Core Framework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Digital Twin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822456"/>
                  </a:ext>
                </a:extLst>
              </a:tr>
              <a:tr h="4346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Healthcare Data &amp; Interoperability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HL7 FHIR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7567492"/>
                  </a:ext>
                </a:extLst>
              </a:tr>
              <a:tr h="4346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AI &amp; Machine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TensorFlow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034204"/>
                  </a:ext>
                </a:extLst>
              </a:tr>
              <a:tr h="4346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Knowledge Representation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Knowledge Graphs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11664"/>
                  </a:ext>
                </a:extLst>
              </a:tr>
              <a:tr h="760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/>
                        <a:t>Backend / Microservices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FastAPI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4758650"/>
                  </a:ext>
                </a:extLst>
              </a:tr>
              <a:tr h="4346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Database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PostgreSQL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833919"/>
                  </a:ext>
                </a:extLst>
              </a:tr>
              <a:tr h="760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/>
                        <a:t>DevOps / Deployment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/>
                        <a:t>Docker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086376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7CE7E-5D61-CF1F-2C85-F5AC4AD5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9584A-62DD-4592-B6F4-EEFE14D0C992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9FB08B-C91B-E8DC-1C05-29B5104F0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6653CF-AC46-EBD1-ED20-5677DD024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366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C6D84-077B-7007-4B63-807557EC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387226-F29E-0041-5581-4EF07C7198F1}"/>
              </a:ext>
            </a:extLst>
          </p:cNvPr>
          <p:cNvSpPr txBox="1"/>
          <p:nvPr/>
        </p:nvSpPr>
        <p:spPr>
          <a:xfrm>
            <a:off x="1893060" y="567351"/>
            <a:ext cx="84058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Innovation, Creativity, and Novelty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C5F926-1E4C-4031-B9E9-6A17F126A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CBC7F5F-BBE8-E858-FEFB-316D20BA7608}"/>
              </a:ext>
            </a:extLst>
          </p:cNvPr>
          <p:cNvSpPr txBox="1"/>
          <p:nvPr/>
        </p:nvSpPr>
        <p:spPr>
          <a:xfrm>
            <a:off x="706941" y="1723854"/>
            <a:ext cx="1034715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Innovation</a:t>
            </a:r>
          </a:p>
          <a:p>
            <a:r>
              <a:rPr lang="en-IN" sz="2000" b="1" dirty="0"/>
              <a:t>AI-Driven Personalized Drug Analysis</a:t>
            </a:r>
            <a:br>
              <a:rPr lang="en-IN" sz="2000" dirty="0"/>
            </a:br>
            <a:r>
              <a:rPr lang="en-IN" sz="2000" dirty="0"/>
              <a:t>Uses </a:t>
            </a:r>
            <a:r>
              <a:rPr lang="en-IN" sz="2000" b="1" dirty="0"/>
              <a:t>TensorFlow</a:t>
            </a:r>
            <a:r>
              <a:rPr lang="en-IN" sz="2000" dirty="0"/>
              <a:t> with patient-specific clinical data to support personalized drug-response simulation.</a:t>
            </a:r>
          </a:p>
          <a:p>
            <a:endParaRPr lang="en-IN" sz="2000" dirty="0"/>
          </a:p>
          <a:p>
            <a:r>
              <a:rPr lang="en-IN" sz="2000" b="1" dirty="0"/>
              <a:t>Creativity</a:t>
            </a:r>
          </a:p>
          <a:p>
            <a:r>
              <a:rPr lang="en-IN" sz="2000" b="1" dirty="0"/>
              <a:t>Digital Twin + Knowledge Graph Integration</a:t>
            </a:r>
            <a:br>
              <a:rPr lang="en-IN" sz="2000" dirty="0"/>
            </a:br>
            <a:r>
              <a:rPr lang="en-IN" sz="2000" dirty="0"/>
              <a:t>Combines a </a:t>
            </a:r>
            <a:r>
              <a:rPr lang="en-IN" sz="2000" b="1" dirty="0"/>
              <a:t>patient Digital Twin</a:t>
            </a:r>
            <a:r>
              <a:rPr lang="en-IN" sz="2000" dirty="0"/>
              <a:t> with a </a:t>
            </a:r>
            <a:r>
              <a:rPr lang="en-IN" sz="2000" b="1" dirty="0"/>
              <a:t>Knowledge Graph</a:t>
            </a:r>
            <a:r>
              <a:rPr lang="en-IN" sz="2000" dirty="0"/>
              <a:t> to connect patient conditions, medications, observations, and drug interactions.</a:t>
            </a:r>
          </a:p>
          <a:p>
            <a:endParaRPr lang="en-IN" sz="2000" dirty="0"/>
          </a:p>
          <a:p>
            <a:r>
              <a:rPr lang="en-IN" sz="2000" b="1" dirty="0"/>
              <a:t>Novelty</a:t>
            </a:r>
          </a:p>
          <a:p>
            <a:r>
              <a:rPr lang="en-IN" sz="2000" b="1" dirty="0"/>
              <a:t>Integrated Patient-Specific Risk Assessment</a:t>
            </a:r>
            <a:br>
              <a:rPr lang="en-IN" sz="2000" dirty="0"/>
            </a:br>
            <a:r>
              <a:rPr lang="en-IN" sz="2000" dirty="0"/>
              <a:t>Combines </a:t>
            </a:r>
            <a:r>
              <a:rPr lang="en-IN" sz="2000" b="1" dirty="0"/>
              <a:t>Digital Twin data, AI prediction, medication conflict detection, and HL7 FHIR</a:t>
            </a:r>
            <a:r>
              <a:rPr lang="en-IN" sz="2000" dirty="0"/>
              <a:t> within a single healthcare framework.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4C573-8A13-2B34-99AC-C9BEAE224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8C3B9-B544-4649-9B34-8588B0C6F73C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833AF9-2FFB-F8A8-A9B7-9BE2A51DE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0F58C4-8895-104F-5A10-4595D2972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135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162E3-296B-464B-DAA7-31E552F71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Feasibility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870B94-57FD-899C-59B6-19C53654B0DE}"/>
              </a:ext>
            </a:extLst>
          </p:cNvPr>
          <p:cNvSpPr txBox="1"/>
          <p:nvPr/>
        </p:nvSpPr>
        <p:spPr>
          <a:xfrm>
            <a:off x="528234" y="1690688"/>
            <a:ext cx="1069253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Technical Feasibility</a:t>
            </a:r>
            <a:br>
              <a:rPr lang="en-IN" dirty="0"/>
            </a:br>
            <a:r>
              <a:rPr lang="en-IN" dirty="0"/>
              <a:t>Uses established technologies such as </a:t>
            </a:r>
            <a:r>
              <a:rPr lang="en-IN" b="1" dirty="0" err="1"/>
              <a:t>FastAPI</a:t>
            </a:r>
            <a:r>
              <a:rPr lang="en-IN" b="1" dirty="0"/>
              <a:t>, TensorFlow, Neo4j, PostgreSQL, HL7 FHIR, and Docker</a:t>
            </a:r>
            <a:r>
              <a:rPr lang="en-IN" dirty="0"/>
              <a:t>, which can be integrated into the proposed system.</a:t>
            </a:r>
          </a:p>
          <a:p>
            <a:endParaRPr lang="en-IN" dirty="0"/>
          </a:p>
          <a:p>
            <a:r>
              <a:rPr lang="en-IN" b="1" dirty="0"/>
              <a:t>Operational Feasibility</a:t>
            </a:r>
            <a:br>
              <a:rPr lang="en-IN" dirty="0"/>
            </a:br>
            <a:r>
              <a:rPr lang="en-IN" dirty="0"/>
              <a:t>Provides a </a:t>
            </a:r>
            <a:r>
              <a:rPr lang="en-IN" b="1" dirty="0"/>
              <a:t>simple web-based interface</a:t>
            </a:r>
            <a:r>
              <a:rPr lang="en-IN" dirty="0"/>
              <a:t> for entering patient information, </a:t>
            </a:r>
            <a:r>
              <a:rPr lang="en-IN" dirty="0" err="1"/>
              <a:t>analyzing</a:t>
            </a:r>
            <a:r>
              <a:rPr lang="en-IN" dirty="0"/>
              <a:t> medications, and viewing drug-response and conflict results.</a:t>
            </a:r>
          </a:p>
          <a:p>
            <a:endParaRPr lang="en-IN" dirty="0"/>
          </a:p>
          <a:p>
            <a:r>
              <a:rPr lang="en-IN" b="1" dirty="0"/>
              <a:t>Economic Feasibility</a:t>
            </a:r>
            <a:br>
              <a:rPr lang="en-IN" dirty="0"/>
            </a:br>
            <a:r>
              <a:rPr lang="en-IN" dirty="0"/>
              <a:t>Uses </a:t>
            </a:r>
            <a:r>
              <a:rPr lang="en-IN" b="1" dirty="0"/>
              <a:t>open-source frameworks and tools</a:t>
            </a:r>
            <a:r>
              <a:rPr lang="en-IN" dirty="0"/>
              <a:t>, reducing development and deployment costs.</a:t>
            </a:r>
          </a:p>
          <a:p>
            <a:endParaRPr lang="en-IN" dirty="0"/>
          </a:p>
          <a:p>
            <a:r>
              <a:rPr lang="en-IN" b="1" dirty="0"/>
              <a:t>Scalability Feasibility</a:t>
            </a:r>
            <a:br>
              <a:rPr lang="en-IN" dirty="0"/>
            </a:br>
            <a:r>
              <a:rPr lang="en-IN" dirty="0"/>
              <a:t>The </a:t>
            </a:r>
            <a:r>
              <a:rPr lang="en-IN" b="1" dirty="0"/>
              <a:t>Docker-based architecture</a:t>
            </a:r>
            <a:r>
              <a:rPr lang="en-IN" dirty="0"/>
              <a:t> allows individual components to be deployed, maintained, and scaled as the system grows.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00E91-F1AC-568C-2F37-718251F25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B1E2A-1D16-41D9-AF4A-A8E539E69D5F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84A39-757C-0F51-F3BD-08947A232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E859D-DB9C-99C8-45C2-E51FA99C0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014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A2CC-2C9A-D968-2F38-FFC4A7D23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F7CE10-08D9-83CF-7508-12575531E1E0}"/>
              </a:ext>
            </a:extLst>
          </p:cNvPr>
          <p:cNvSpPr txBox="1"/>
          <p:nvPr/>
        </p:nvSpPr>
        <p:spPr>
          <a:xfrm>
            <a:off x="2615380" y="551058"/>
            <a:ext cx="723401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Project Plan</a:t>
            </a:r>
            <a:endParaRPr lang="en-US" sz="4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71D25F-D310-56FA-A58E-B7B79C7D8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graphicFrame>
        <p:nvGraphicFramePr>
          <p:cNvPr id="3" name="Content Placeholder 10">
            <a:extLst>
              <a:ext uri="{FF2B5EF4-FFF2-40B4-BE49-F238E27FC236}">
                <a16:creationId xmlns:a16="http://schemas.microsoft.com/office/drawing/2014/main" id="{5DB887DB-1CB5-5E21-2F2E-79DBEE565A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3813921"/>
              </p:ext>
            </p:extLst>
          </p:nvPr>
        </p:nvGraphicFramePr>
        <p:xfrm>
          <a:off x="1058152" y="1511018"/>
          <a:ext cx="9499599" cy="4795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174">
                  <a:extLst>
                    <a:ext uri="{9D8B030D-6E8A-4147-A177-3AD203B41FA5}">
                      <a16:colId xmlns:a16="http://schemas.microsoft.com/office/drawing/2014/main" val="865632583"/>
                    </a:ext>
                  </a:extLst>
                </a:gridCol>
                <a:gridCol w="4431575">
                  <a:extLst>
                    <a:ext uri="{9D8B030D-6E8A-4147-A177-3AD203B41FA5}">
                      <a16:colId xmlns:a16="http://schemas.microsoft.com/office/drawing/2014/main" val="2856754256"/>
                    </a:ext>
                  </a:extLst>
                </a:gridCol>
                <a:gridCol w="4085850">
                  <a:extLst>
                    <a:ext uri="{9D8B030D-6E8A-4147-A177-3AD203B41FA5}">
                      <a16:colId xmlns:a16="http://schemas.microsoft.com/office/drawing/2014/main" val="3992791816"/>
                    </a:ext>
                  </a:extLst>
                </a:gridCol>
              </a:tblGrid>
              <a:tr h="426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Phase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Activity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Output</a:t>
                      </a:r>
                      <a:endParaRPr lang="en-IN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4510404"/>
                  </a:ext>
                </a:extLst>
              </a:tr>
              <a:tr h="735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Phase 1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Requirement Analysis &amp; Literature Survey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Finalized requirements and research gap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4812841"/>
                  </a:ext>
                </a:extLst>
              </a:tr>
              <a:tr h="4202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Phase 2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Digital Twin &amp; System 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Patient Digital Twin and integrated architecture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8198534"/>
                  </a:ext>
                </a:extLst>
              </a:tr>
              <a:tr h="735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Phase 3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HL7 FHIR Data Integration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Standardized patient, medication &amp; observation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7565806"/>
                  </a:ext>
                </a:extLst>
              </a:tr>
              <a:tr h="426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Phase 4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TensorFlow AI Model 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Personalized drug-response prediction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4477876"/>
                  </a:ext>
                </a:extLst>
              </a:tr>
              <a:tr h="735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Phase 5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Neo4j Knowledge Graph &amp; Conflict Detection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Drug relationships and medication conflict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3361741"/>
                  </a:ext>
                </a:extLst>
              </a:tr>
              <a:tr h="426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Phase 6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FastAPI, PostgreSQL &amp; Docker Integration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Integrated backend, persistent database and containerized system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6513394"/>
                  </a:ext>
                </a:extLst>
              </a:tr>
              <a:tr h="426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Phase 7</a:t>
                      </a:r>
                      <a:endParaRPr lang="en-I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Testing, Validation &amp; Final Demonstration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Validated working prototype and final project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3654068"/>
                  </a:ext>
                </a:extLst>
              </a:tr>
            </a:tbl>
          </a:graphicData>
        </a:graphic>
      </p:graphicFrame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F40844-044F-5AF0-21A8-6E98A7B0D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1776-9110-4E1A-B222-03B38CB053C9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37CB612-92CB-DC63-4396-6873D7229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9A6103-5321-64DA-ABC2-1EE78554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855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32A5D-F551-3DB1-B504-D5D671B3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Architecture/Project Overview: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F0F6D0-3969-AAA2-79AD-C2E81381A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375" y="1548486"/>
            <a:ext cx="7416584" cy="4944389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D38234-AC94-EC4A-BFC0-D1C1E4EDA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A6F7C-09B0-45B0-B30C-33E9AAF8B638}" type="datetime3">
              <a:rPr lang="en-US" smtClean="0"/>
              <a:t>17 September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AAF87C-FE38-9ED5-C7A9-669050300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SOA Project Review-1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23496C-5979-C941-29B3-5E402D7C0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410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1240</Words>
  <Application>Microsoft Office PowerPoint</Application>
  <PresentationFormat>Widescreen</PresentationFormat>
  <Paragraphs>189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Novelty</vt:lpstr>
      <vt:lpstr>Tech Stack </vt:lpstr>
      <vt:lpstr>PowerPoint Presentation</vt:lpstr>
      <vt:lpstr>Feasibility</vt:lpstr>
      <vt:lpstr>PowerPoint Presentation</vt:lpstr>
      <vt:lpstr>Project Architecture/Project Overview: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</dc:creator>
  <cp:lastModifiedBy>Akshay Saladi</cp:lastModifiedBy>
  <cp:revision>33</cp:revision>
  <dcterms:created xsi:type="dcterms:W3CDTF">2026-08-08T06:33:56Z</dcterms:created>
  <dcterms:modified xsi:type="dcterms:W3CDTF">2026-09-17T09:16:56Z</dcterms:modified>
</cp:coreProperties>
</file>